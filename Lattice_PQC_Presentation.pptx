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2" d="100"/>
          <a:sy n="32" d="100"/>
        </p:scale>
        <p:origin x="11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0AE12E-534F-4189-AF35-4713BD61A01C}" type="datetimeFigureOut">
              <a:rPr lang="en-IN" smtClean="0"/>
              <a:t>27-09-2026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038E22-AFD2-4960-948E-53A595B837F5}" type="slidenum">
              <a:rPr lang="en-IN" smtClean="0"/>
              <a:t>‹#›</a:t>
            </a:fld>
            <a:endParaRPr lang="en-IN"/>
          </a:p>
        </p:txBody>
      </p:sp>
    </p:spTree>
    <p:extLst>
      <p:ext uri="{BB962C8B-B14F-4D97-AF65-F5344CB8AC3E}">
        <p14:creationId xmlns:p14="http://schemas.microsoft.com/office/powerpoint/2010/main" val="1232802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respected professors. Today we present our Research Methodology project on Lattice-Based Post-Quantum Cryptography, focusing on the mathematical foundations, interactive simulation, and empirical security testing against modern machine learning.</a:t>
            </a:r>
            <a:endParaRPr lang="en-IN"/>
          </a:p>
        </p:txBody>
      </p:sp>
      <p:sp>
        <p:nvSpPr>
          <p:cNvPr id="4" name="Slide Number Placeholder 3"/>
          <p:cNvSpPr>
            <a:spLocks noGrp="1"/>
          </p:cNvSpPr>
          <p:nvPr>
            <p:ph type="sldNum" sz="quarter" idx="5"/>
          </p:nvPr>
        </p:nvSpPr>
        <p:spPr/>
        <p:txBody>
          <a:bodyPr/>
          <a:lstStyle/>
          <a:p>
            <a:fld id="{5F038E22-AFD2-4960-948E-53A595B837F5}" type="slidenum">
              <a:rPr lang="en-IN" smtClean="0"/>
              <a:t>1</a:t>
            </a:fld>
            <a:endParaRPr lang="en-IN"/>
          </a:p>
        </p:txBody>
      </p:sp>
    </p:spTree>
    <p:extLst>
      <p:ext uri="{BB962C8B-B14F-4D97-AF65-F5344CB8AC3E}">
        <p14:creationId xmlns:p14="http://schemas.microsoft.com/office/powerpoint/2010/main" val="4035490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we secure today (banking, HTTPS, passwords) relies on RSA and ECC. Shor's quantum algorithm can solve these in minutes. Adversaries are already harvesting data today to decrypt it later. In response, NIST standardized lattice-based cryptography in August 2024 as the new global replacement.</a:t>
            </a:r>
            <a:endParaRPr lang="en-IN"/>
          </a:p>
        </p:txBody>
      </p:sp>
      <p:sp>
        <p:nvSpPr>
          <p:cNvPr id="4" name="Slide Number Placeholder 3"/>
          <p:cNvSpPr>
            <a:spLocks noGrp="1"/>
          </p:cNvSpPr>
          <p:nvPr>
            <p:ph type="sldNum" sz="quarter" idx="5"/>
          </p:nvPr>
        </p:nvSpPr>
        <p:spPr/>
        <p:txBody>
          <a:bodyPr/>
          <a:lstStyle/>
          <a:p>
            <a:fld id="{5F038E22-AFD2-4960-948E-53A595B837F5}" type="slidenum">
              <a:rPr lang="en-IN" smtClean="0"/>
              <a:t>2</a:t>
            </a:fld>
            <a:endParaRPr lang="en-IN"/>
          </a:p>
        </p:txBody>
      </p:sp>
    </p:spTree>
    <p:extLst>
      <p:ext uri="{BB962C8B-B14F-4D97-AF65-F5344CB8AC3E}">
        <p14:creationId xmlns:p14="http://schemas.microsoft.com/office/powerpoint/2010/main" val="2087001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a lattice? It is an infinite, regular grid of points in space, exactly like dots on a sheet of graph paper. To reach any point, you start at the origin and take whole integer steps along two basis arrows. In continuous space, you can move anywhere. In a lattice, you are locked to integer coordinates.</a:t>
            </a:r>
            <a:endParaRPr lang="en-IN"/>
          </a:p>
        </p:txBody>
      </p:sp>
      <p:sp>
        <p:nvSpPr>
          <p:cNvPr id="4" name="Slide Number Placeholder 3"/>
          <p:cNvSpPr>
            <a:spLocks noGrp="1"/>
          </p:cNvSpPr>
          <p:nvPr>
            <p:ph type="sldNum" sz="quarter" idx="5"/>
          </p:nvPr>
        </p:nvSpPr>
        <p:spPr/>
        <p:txBody>
          <a:bodyPr/>
          <a:lstStyle/>
          <a:p>
            <a:fld id="{5F038E22-AFD2-4960-948E-53A595B837F5}" type="slidenum">
              <a:rPr lang="en-IN" smtClean="0"/>
              <a:t>3</a:t>
            </a:fld>
            <a:endParaRPr lang="en-IN"/>
          </a:p>
        </p:txBody>
      </p:sp>
    </p:spTree>
    <p:extLst>
      <p:ext uri="{BB962C8B-B14F-4D97-AF65-F5344CB8AC3E}">
        <p14:creationId xmlns:p14="http://schemas.microsoft.com/office/powerpoint/2010/main" val="2320039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cryptographic trapdoor: the same grid of dots can be described by different pairs of arrows. A Good Basis has short, perpendicular arrows--this is your private key, making navigation easy. A Bad Basis has long, squished, nearly parallel arrows--this is published as your public key, making navigation virtually impossible.</a:t>
            </a:r>
            <a:endParaRPr lang="en-IN"/>
          </a:p>
        </p:txBody>
      </p:sp>
      <p:sp>
        <p:nvSpPr>
          <p:cNvPr id="4" name="Slide Number Placeholder 3"/>
          <p:cNvSpPr>
            <a:spLocks noGrp="1"/>
          </p:cNvSpPr>
          <p:nvPr>
            <p:ph type="sldNum" sz="quarter" idx="5"/>
          </p:nvPr>
        </p:nvSpPr>
        <p:spPr/>
        <p:txBody>
          <a:bodyPr/>
          <a:lstStyle/>
          <a:p>
            <a:fld id="{5F038E22-AFD2-4960-948E-53A595B837F5}" type="slidenum">
              <a:rPr lang="en-IN" smtClean="0"/>
              <a:t>4</a:t>
            </a:fld>
            <a:endParaRPr lang="en-IN"/>
          </a:p>
        </p:txBody>
      </p:sp>
    </p:spTree>
    <p:extLst>
      <p:ext uri="{BB962C8B-B14F-4D97-AF65-F5344CB8AC3E}">
        <p14:creationId xmlns:p14="http://schemas.microsoft.com/office/powerpoint/2010/main" val="4204469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can't computers solve lattices? Because of two NP-hard problems: CVP and SVP. In CVP, you pick any point off the grid and try to find the nearest grid dot. Easy in 2D by eye, but mathematically impossible in 1000D. In SVP, you find the shortest non-zero vector from the origin.</a:t>
            </a:r>
            <a:endParaRPr lang="en-IN"/>
          </a:p>
        </p:txBody>
      </p:sp>
      <p:sp>
        <p:nvSpPr>
          <p:cNvPr id="4" name="Slide Number Placeholder 3"/>
          <p:cNvSpPr>
            <a:spLocks noGrp="1"/>
          </p:cNvSpPr>
          <p:nvPr>
            <p:ph type="sldNum" sz="quarter" idx="5"/>
          </p:nvPr>
        </p:nvSpPr>
        <p:spPr/>
        <p:txBody>
          <a:bodyPr/>
          <a:lstStyle/>
          <a:p>
            <a:fld id="{5F038E22-AFD2-4960-948E-53A595B837F5}" type="slidenum">
              <a:rPr lang="en-IN" smtClean="0"/>
              <a:t>5</a:t>
            </a:fld>
            <a:endParaRPr lang="en-IN"/>
          </a:p>
        </p:txBody>
      </p:sp>
    </p:spTree>
    <p:extLst>
      <p:ext uri="{BB962C8B-B14F-4D97-AF65-F5344CB8AC3E}">
        <p14:creationId xmlns:p14="http://schemas.microsoft.com/office/powerpoint/2010/main" val="1712186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do we turn this into encryption? Using Learning With Errors, or LWE. If we have equations like A times s equals b, anyone can solve it with Gaussian elimination. But if we add a tiny random error like plus or minus 1, linear algebra completely collapses. Decryption works because the person with the secret key subtracts the mask and rounds away the tiny noise.</a:t>
            </a:r>
            <a:endParaRPr lang="en-IN"/>
          </a:p>
        </p:txBody>
      </p:sp>
      <p:sp>
        <p:nvSpPr>
          <p:cNvPr id="4" name="Slide Number Placeholder 3"/>
          <p:cNvSpPr>
            <a:spLocks noGrp="1"/>
          </p:cNvSpPr>
          <p:nvPr>
            <p:ph type="sldNum" sz="quarter" idx="5"/>
          </p:nvPr>
        </p:nvSpPr>
        <p:spPr/>
        <p:txBody>
          <a:bodyPr/>
          <a:lstStyle/>
          <a:p>
            <a:fld id="{5F038E22-AFD2-4960-948E-53A595B837F5}" type="slidenum">
              <a:rPr lang="en-IN" smtClean="0"/>
              <a:t>6</a:t>
            </a:fld>
            <a:endParaRPr lang="en-IN"/>
          </a:p>
        </p:txBody>
      </p:sp>
    </p:spTree>
    <p:extLst>
      <p:ext uri="{BB962C8B-B14F-4D97-AF65-F5344CB8AC3E}">
        <p14:creationId xmlns:p14="http://schemas.microsoft.com/office/powerpoint/2010/main" val="816309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implemented an interactive simulation in Python and Colab with 14 modules. We also conducted a machine learning experiment: can a deep neural network guess the secret bit? At dimension 2, the AI achieves 85% accuracy. But at dimension 16, accuracy collapses to 50%--pure random coin flip! This empirically proves that machine learning cannot break lattice cryptography.</a:t>
            </a:r>
            <a:endParaRPr lang="en-IN"/>
          </a:p>
        </p:txBody>
      </p:sp>
      <p:sp>
        <p:nvSpPr>
          <p:cNvPr id="4" name="Slide Number Placeholder 3"/>
          <p:cNvSpPr>
            <a:spLocks noGrp="1"/>
          </p:cNvSpPr>
          <p:nvPr>
            <p:ph type="sldNum" sz="quarter" idx="5"/>
          </p:nvPr>
        </p:nvSpPr>
        <p:spPr/>
        <p:txBody>
          <a:bodyPr/>
          <a:lstStyle/>
          <a:p>
            <a:fld id="{5F038E22-AFD2-4960-948E-53A595B837F5}" type="slidenum">
              <a:rPr lang="en-IN" smtClean="0"/>
              <a:t>7</a:t>
            </a:fld>
            <a:endParaRPr lang="en-IN"/>
          </a:p>
        </p:txBody>
      </p:sp>
    </p:spTree>
    <p:extLst>
      <p:ext uri="{BB962C8B-B14F-4D97-AF65-F5344CB8AC3E}">
        <p14:creationId xmlns:p14="http://schemas.microsoft.com/office/powerpoint/2010/main" val="2502504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this project gave us a solid foundational understanding of lattice cryptography. For our future research, we have mapped out advanced directions including Module-LWE polynomial arithmetic in Kyber and Fully Homomorphic Encryption. Thank you, and we welcome your questions.</a:t>
            </a:r>
            <a:endParaRPr lang="en-IN"/>
          </a:p>
        </p:txBody>
      </p:sp>
      <p:sp>
        <p:nvSpPr>
          <p:cNvPr id="4" name="Slide Number Placeholder 3"/>
          <p:cNvSpPr>
            <a:spLocks noGrp="1"/>
          </p:cNvSpPr>
          <p:nvPr>
            <p:ph type="sldNum" sz="quarter" idx="5"/>
          </p:nvPr>
        </p:nvSpPr>
        <p:spPr/>
        <p:txBody>
          <a:bodyPr/>
          <a:lstStyle/>
          <a:p>
            <a:fld id="{5F038E22-AFD2-4960-948E-53A595B837F5}" type="slidenum">
              <a:rPr lang="en-IN" smtClean="0"/>
              <a:t>8</a:t>
            </a:fld>
            <a:endParaRPr lang="en-IN"/>
          </a:p>
        </p:txBody>
      </p:sp>
    </p:spTree>
    <p:extLst>
      <p:ext uri="{BB962C8B-B14F-4D97-AF65-F5344CB8AC3E}">
        <p14:creationId xmlns:p14="http://schemas.microsoft.com/office/powerpoint/2010/main" val="3496030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F292-DC1A-1AF9-9594-2047D748D0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AD3BA3-5F63-20FE-B731-ED31C8EEA3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6BF076-B83E-4B66-B716-EA85D9AEFCC0}"/>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5" name="Footer Placeholder 4">
            <a:extLst>
              <a:ext uri="{FF2B5EF4-FFF2-40B4-BE49-F238E27FC236}">
                <a16:creationId xmlns:a16="http://schemas.microsoft.com/office/drawing/2014/main" id="{DE2963C2-1442-4885-E7C5-BF6EF8E323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0E79D0-4B01-86DD-F894-5F80C6883313}"/>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1608792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6A8E5-7D0B-FF23-1A5A-99B26729CD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104EA7-EB6A-3567-0F47-969BA63DE6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3B1CCC-6394-A5FD-C23C-7E0E538A348E}"/>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5" name="Footer Placeholder 4">
            <a:extLst>
              <a:ext uri="{FF2B5EF4-FFF2-40B4-BE49-F238E27FC236}">
                <a16:creationId xmlns:a16="http://schemas.microsoft.com/office/drawing/2014/main" id="{3349F781-518C-A92E-9396-6572B09708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09A10-2F11-4F9C-C211-BAF1B6746278}"/>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228639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F6A2-A985-15DC-10BD-64910F8C07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7ADA7A-6D89-66E1-072F-F9A559875A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94F49A-5C1A-9FB7-9E0C-85DAF1B2C213}"/>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5" name="Footer Placeholder 4">
            <a:extLst>
              <a:ext uri="{FF2B5EF4-FFF2-40B4-BE49-F238E27FC236}">
                <a16:creationId xmlns:a16="http://schemas.microsoft.com/office/drawing/2014/main" id="{53222933-B7B7-9DFC-E024-460DCFE9B8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17998D-A2F0-FADC-BA31-DE4A4657E652}"/>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823407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296E-4073-26BA-0AE6-7799F0CE1E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EA627D-E7A2-4D06-A5A5-039CE18D20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6F454C-405F-7114-30F2-9F5DAEB9D0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E90F9C5-D306-14D8-9CFF-65B5A94FF22D}"/>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6" name="Footer Placeholder 5">
            <a:extLst>
              <a:ext uri="{FF2B5EF4-FFF2-40B4-BE49-F238E27FC236}">
                <a16:creationId xmlns:a16="http://schemas.microsoft.com/office/drawing/2014/main" id="{E95B200D-1386-1143-1635-A930441739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08938D-99C0-6F68-DFD9-57DBA697E865}"/>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290345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7EE6B-0833-7350-5CE4-C142AA4910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4CDF77-855D-BC83-ECC1-BD06CB7999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4BB276-448F-294D-87D4-F720310839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54C6BF-1EB4-4D92-0E63-57A4D321EE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DC9635-26AB-4877-9A19-C5396BE9E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8E5607-CB30-C769-9155-1978AD4CAEC8}"/>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8" name="Footer Placeholder 7">
            <a:extLst>
              <a:ext uri="{FF2B5EF4-FFF2-40B4-BE49-F238E27FC236}">
                <a16:creationId xmlns:a16="http://schemas.microsoft.com/office/drawing/2014/main" id="{502BE880-3CF2-9B8D-9AFF-B10537BFA6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A3D2C2-0C6A-46CD-8C03-EA7409632A7D}"/>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1432211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30B8F-7A65-78F0-C55D-6C92BD27F2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FCD94F-131A-F0EF-313E-AE6AF76AD806}"/>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4" name="Footer Placeholder 3">
            <a:extLst>
              <a:ext uri="{FF2B5EF4-FFF2-40B4-BE49-F238E27FC236}">
                <a16:creationId xmlns:a16="http://schemas.microsoft.com/office/drawing/2014/main" id="{FC8F9B3F-E8AD-C410-4963-A763C0A1F93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D736AB-7D04-E461-9FFF-395BBD4D86F4}"/>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2925371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8954A6-9683-7246-3342-ADE93BF64B8E}"/>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3" name="Footer Placeholder 2">
            <a:extLst>
              <a:ext uri="{FF2B5EF4-FFF2-40B4-BE49-F238E27FC236}">
                <a16:creationId xmlns:a16="http://schemas.microsoft.com/office/drawing/2014/main" id="{E99E9A26-BE61-5E99-AD50-F18CABE0270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333356-7A0A-F1A5-FE3B-E94520F0EEA7}"/>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2274003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05F0F-ADE0-5F07-2B8E-BCBFD439D2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67A339-536C-6CDF-6425-F581488DD9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75E060A-AA01-20FB-0362-C6C3DC8B9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C0957B-47F7-C6B6-D2EC-740C0B943559}"/>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6" name="Footer Placeholder 5">
            <a:extLst>
              <a:ext uri="{FF2B5EF4-FFF2-40B4-BE49-F238E27FC236}">
                <a16:creationId xmlns:a16="http://schemas.microsoft.com/office/drawing/2014/main" id="{070CD1AB-702B-E012-0584-B7EA4783D5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6D6120-F233-CA90-5FB1-0C8015BB8F0B}"/>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861926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EBBAD-5CDB-DFF2-2D6C-E1F6645307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927293-CED9-8BD0-C9D8-FCBB4E7A9B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6A4F367-7B35-8B21-6D84-14DC8A713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55240B-28DC-61D1-98BD-3439588DE061}"/>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6" name="Footer Placeholder 5">
            <a:extLst>
              <a:ext uri="{FF2B5EF4-FFF2-40B4-BE49-F238E27FC236}">
                <a16:creationId xmlns:a16="http://schemas.microsoft.com/office/drawing/2014/main" id="{885AC936-3C40-FF6A-0E46-99F839C01B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C3C19B-1F89-2D20-70DA-C78FD40427CD}"/>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2448876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7E763-6DE9-B920-4C58-B60172A180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20C146-343E-210B-3CC6-4C727759C0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303617-8255-29EF-CFA3-72862E57874B}"/>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5" name="Footer Placeholder 4">
            <a:extLst>
              <a:ext uri="{FF2B5EF4-FFF2-40B4-BE49-F238E27FC236}">
                <a16:creationId xmlns:a16="http://schemas.microsoft.com/office/drawing/2014/main" id="{5A630919-A048-034C-82D2-8CB2FCE158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E7A18C-E932-78B9-3BC7-AC205A8C0623}"/>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2873533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28866A-40F4-B027-8CBD-8634ED00A6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07D371-747F-CD42-7E86-17CE63D9C1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5A614E-DE8F-C4C4-0C0F-D1DB48BE237C}"/>
              </a:ext>
            </a:extLst>
          </p:cNvPr>
          <p:cNvSpPr>
            <a:spLocks noGrp="1"/>
          </p:cNvSpPr>
          <p:nvPr>
            <p:ph type="dt" sz="half" idx="10"/>
          </p:nvPr>
        </p:nvSpPr>
        <p:spPr/>
        <p:txBody>
          <a:bodyPr/>
          <a:lstStyle/>
          <a:p>
            <a:fld id="{7192C9B0-A6DF-486D-A737-E4E5B108237A}" type="datetimeFigureOut">
              <a:rPr lang="en-IN" smtClean="0"/>
              <a:t>27-09-2026</a:t>
            </a:fld>
            <a:endParaRPr lang="en-IN"/>
          </a:p>
        </p:txBody>
      </p:sp>
      <p:sp>
        <p:nvSpPr>
          <p:cNvPr id="5" name="Footer Placeholder 4">
            <a:extLst>
              <a:ext uri="{FF2B5EF4-FFF2-40B4-BE49-F238E27FC236}">
                <a16:creationId xmlns:a16="http://schemas.microsoft.com/office/drawing/2014/main" id="{07C47158-A103-0560-5AED-DACAF2E4A5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94E71C-2605-2184-62E2-43BB2AA761A9}"/>
              </a:ext>
            </a:extLst>
          </p:cNvPr>
          <p:cNvSpPr>
            <a:spLocks noGrp="1"/>
          </p:cNvSpPr>
          <p:nvPr>
            <p:ph type="sldNum" sz="quarter" idx="12"/>
          </p:nvPr>
        </p:nvSpPr>
        <p:spPr/>
        <p:txBody>
          <a:bodyPr/>
          <a:lstStyle/>
          <a:p>
            <a:fld id="{C7A483EB-44D9-46DF-9C54-A29A8C889E7B}" type="slidenum">
              <a:rPr lang="en-IN" smtClean="0"/>
              <a:t>‹#›</a:t>
            </a:fld>
            <a:endParaRPr lang="en-IN"/>
          </a:p>
        </p:txBody>
      </p:sp>
    </p:spTree>
    <p:extLst>
      <p:ext uri="{BB962C8B-B14F-4D97-AF65-F5344CB8AC3E}">
        <p14:creationId xmlns:p14="http://schemas.microsoft.com/office/powerpoint/2010/main" val="1058214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B54238-D440-49ED-EBBA-B052D7E321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5FE9DA-FB86-E9A8-4422-C26AF6D970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0FA4C7-C3A4-CCBE-EB67-CB84EB58B5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92C9B0-A6DF-486D-A737-E4E5B108237A}" type="datetimeFigureOut">
              <a:rPr lang="en-IN" smtClean="0"/>
              <a:t>27-09-2026</a:t>
            </a:fld>
            <a:endParaRPr lang="en-IN"/>
          </a:p>
        </p:txBody>
      </p:sp>
      <p:sp>
        <p:nvSpPr>
          <p:cNvPr id="5" name="Footer Placeholder 4">
            <a:extLst>
              <a:ext uri="{FF2B5EF4-FFF2-40B4-BE49-F238E27FC236}">
                <a16:creationId xmlns:a16="http://schemas.microsoft.com/office/drawing/2014/main" id="{3428DE68-C389-DD60-1127-5C84E7A23A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57B8C9-7B3D-3177-FBC9-D544A995CE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A483EB-44D9-46DF-9C54-A29A8C889E7B}" type="slidenum">
              <a:rPr lang="en-IN" smtClean="0"/>
              <a:t>‹#›</a:t>
            </a:fld>
            <a:endParaRPr lang="en-IN"/>
          </a:p>
        </p:txBody>
      </p:sp>
    </p:spTree>
    <p:extLst>
      <p:ext uri="{BB962C8B-B14F-4D97-AF65-F5344CB8AC3E}">
        <p14:creationId xmlns:p14="http://schemas.microsoft.com/office/powerpoint/2010/main" val="329600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FB712D-F900-27F8-4672-C14A7DD2D05A}"/>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3CFF205C-112F-37C2-09DB-AD4D84D544B3}"/>
              </a:ext>
            </a:extLst>
          </p:cNvPr>
          <p:cNvSpPr/>
          <p:nvPr/>
        </p:nvSpPr>
        <p:spPr>
          <a:xfrm>
            <a:off x="762000" y="1397000"/>
            <a:ext cx="76200" cy="2794000"/>
          </a:xfrm>
          <a:prstGeom prst="rect">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CA121C1-7764-8A33-E44D-0BC1744A23D3}"/>
              </a:ext>
            </a:extLst>
          </p:cNvPr>
          <p:cNvSpPr txBox="1"/>
          <p:nvPr/>
        </p:nvSpPr>
        <p:spPr>
          <a:xfrm>
            <a:off x="1079500" y="1397000"/>
            <a:ext cx="10160000" cy="246221"/>
          </a:xfrm>
          <a:prstGeom prst="rect">
            <a:avLst/>
          </a:prstGeom>
          <a:noFill/>
        </p:spPr>
        <p:txBody>
          <a:bodyPr vert="horz" lIns="0" tIns="0" rtlCol="0">
            <a:spAutoFit/>
          </a:bodyPr>
          <a:lstStyle/>
          <a:p>
            <a:r>
              <a:rPr lang="en-IN" sz="1300" b="1">
                <a:solidFill>
                  <a:srgbClr val="10B981"/>
                </a:solidFill>
                <a:latin typeface="Segoe UI" panose="020B0502040204020203" pitchFamily="34" charset="0"/>
              </a:rPr>
              <a:t>RESEARCH METHODOLOGY PROJECT</a:t>
            </a:r>
          </a:p>
        </p:txBody>
      </p:sp>
      <p:sp>
        <p:nvSpPr>
          <p:cNvPr id="5" name="TextBox 4">
            <a:extLst>
              <a:ext uri="{FF2B5EF4-FFF2-40B4-BE49-F238E27FC236}">
                <a16:creationId xmlns:a16="http://schemas.microsoft.com/office/drawing/2014/main" id="{6468DE7F-D1BB-8359-8B25-68F373827857}"/>
              </a:ext>
            </a:extLst>
          </p:cNvPr>
          <p:cNvSpPr txBox="1"/>
          <p:nvPr/>
        </p:nvSpPr>
        <p:spPr>
          <a:xfrm>
            <a:off x="1079500" y="1803400"/>
            <a:ext cx="10160000" cy="569387"/>
          </a:xfrm>
          <a:prstGeom prst="rect">
            <a:avLst/>
          </a:prstGeom>
          <a:noFill/>
        </p:spPr>
        <p:txBody>
          <a:bodyPr vert="horz" lIns="0" tIns="0" rtlCol="0">
            <a:spAutoFit/>
          </a:bodyPr>
          <a:lstStyle/>
          <a:p>
            <a:r>
              <a:rPr lang="en-IN" sz="3400" b="1">
                <a:solidFill>
                  <a:srgbClr val="F8FAFC"/>
                </a:solidFill>
                <a:latin typeface="Segoe UI" panose="020B0502040204020203" pitchFamily="34" charset="0"/>
              </a:rPr>
              <a:t>Lattice-Based Post-Quantum Cryptography</a:t>
            </a:r>
          </a:p>
        </p:txBody>
      </p:sp>
      <p:sp>
        <p:nvSpPr>
          <p:cNvPr id="6" name="TextBox 5">
            <a:extLst>
              <a:ext uri="{FF2B5EF4-FFF2-40B4-BE49-F238E27FC236}">
                <a16:creationId xmlns:a16="http://schemas.microsoft.com/office/drawing/2014/main" id="{3B696CF9-7DD5-2C37-2CE1-EAED7C083571}"/>
              </a:ext>
            </a:extLst>
          </p:cNvPr>
          <p:cNvSpPr txBox="1"/>
          <p:nvPr/>
        </p:nvSpPr>
        <p:spPr>
          <a:xfrm>
            <a:off x="1079500" y="3022600"/>
            <a:ext cx="10160000" cy="323165"/>
          </a:xfrm>
          <a:prstGeom prst="rect">
            <a:avLst/>
          </a:prstGeom>
          <a:noFill/>
        </p:spPr>
        <p:txBody>
          <a:bodyPr vert="horz" lIns="0" tIns="0" rtlCol="0">
            <a:spAutoFit/>
          </a:bodyPr>
          <a:lstStyle/>
          <a:p>
            <a:r>
              <a:rPr lang="en-US">
                <a:solidFill>
                  <a:srgbClr val="94A3B8"/>
                </a:solidFill>
                <a:latin typeface="Segoe UI" panose="020B0502040204020203" pitchFamily="34" charset="0"/>
              </a:rPr>
              <a:t>Interactive Implementation, Foundations and Security Analysis</a:t>
            </a:r>
            <a:endParaRPr lang="en-IN">
              <a:solidFill>
                <a:srgbClr val="94A3B8"/>
              </a:solidFill>
              <a:latin typeface="Segoe UI" panose="020B0502040204020203" pitchFamily="34" charset="0"/>
            </a:endParaRPr>
          </a:p>
        </p:txBody>
      </p:sp>
      <p:sp>
        <p:nvSpPr>
          <p:cNvPr id="7" name="TextBox 6">
            <a:extLst>
              <a:ext uri="{FF2B5EF4-FFF2-40B4-BE49-F238E27FC236}">
                <a16:creationId xmlns:a16="http://schemas.microsoft.com/office/drawing/2014/main" id="{C07F7884-CDC3-9CC7-7C10-808C42AE5C4D}"/>
              </a:ext>
            </a:extLst>
          </p:cNvPr>
          <p:cNvSpPr txBox="1"/>
          <p:nvPr/>
        </p:nvSpPr>
        <p:spPr>
          <a:xfrm>
            <a:off x="1079500" y="4826000"/>
            <a:ext cx="10160000" cy="600164"/>
          </a:xfrm>
          <a:prstGeom prst="rect">
            <a:avLst/>
          </a:prstGeom>
          <a:noFill/>
        </p:spPr>
        <p:txBody>
          <a:bodyPr vert="horz" lIns="0" tIns="0" rtlCol="0">
            <a:spAutoFit/>
          </a:bodyPr>
          <a:lstStyle/>
          <a:p>
            <a:r>
              <a:rPr lang="en-US" sz="1200">
                <a:solidFill>
                  <a:srgbClr val="94A3B8"/>
                </a:solidFill>
                <a:latin typeface="Segoe UI" panose="020B0502040204020203" pitchFamily="34" charset="0"/>
              </a:rPr>
              <a:t>Presented by: Jashan Goyal and Team
Based on: Perez-Ramos et al. (2026), Journal of New Approaches in Educational Research
Target Standards: NIST FIPS 203 (ML-KEM) and FIPS 204 (ML-DSA)</a:t>
            </a:r>
            <a:endParaRPr lang="en-IN" sz="1200">
              <a:solidFill>
                <a:srgbClr val="94A3B8"/>
              </a:solidFill>
              <a:latin typeface="Segoe UI" panose="020B0502040204020203" pitchFamily="34" charset="0"/>
            </a:endParaRPr>
          </a:p>
        </p:txBody>
      </p:sp>
    </p:spTree>
    <p:extLst>
      <p:ext uri="{BB962C8B-B14F-4D97-AF65-F5344CB8AC3E}">
        <p14:creationId xmlns:p14="http://schemas.microsoft.com/office/powerpoint/2010/main" val="629169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FB3D43-32A5-F8D4-EE6C-461E21A6E9E5}"/>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5169F34-DD05-9DF4-EC35-65D67575EA7D}"/>
              </a:ext>
            </a:extLst>
          </p:cNvPr>
          <p:cNvSpPr txBox="1"/>
          <p:nvPr/>
        </p:nvSpPr>
        <p:spPr>
          <a:xfrm>
            <a:off x="762000" y="355600"/>
            <a:ext cx="10668000" cy="215444"/>
          </a:xfrm>
          <a:prstGeom prst="rect">
            <a:avLst/>
          </a:prstGeom>
          <a:noFill/>
        </p:spPr>
        <p:txBody>
          <a:bodyPr vert="horz" lIns="0" tIns="0" rtlCol="0">
            <a:spAutoFit/>
          </a:bodyPr>
          <a:lstStyle/>
          <a:p>
            <a:r>
              <a:rPr lang="en-IN" sz="1100" b="1">
                <a:solidFill>
                  <a:srgbClr val="10B981"/>
                </a:solidFill>
                <a:latin typeface="Segoe UI" panose="020B0502040204020203" pitchFamily="34" charset="0"/>
              </a:rPr>
              <a:t>1. RESEARCH MOTIVATION</a:t>
            </a:r>
          </a:p>
        </p:txBody>
      </p:sp>
      <p:sp>
        <p:nvSpPr>
          <p:cNvPr id="4" name="TextBox 3">
            <a:extLst>
              <a:ext uri="{FF2B5EF4-FFF2-40B4-BE49-F238E27FC236}">
                <a16:creationId xmlns:a16="http://schemas.microsoft.com/office/drawing/2014/main" id="{F4600B0C-84DE-1C44-B198-6433B79A2609}"/>
              </a:ext>
            </a:extLst>
          </p:cNvPr>
          <p:cNvSpPr txBox="1"/>
          <p:nvPr/>
        </p:nvSpPr>
        <p:spPr>
          <a:xfrm>
            <a:off x="762000" y="635000"/>
            <a:ext cx="10668000" cy="415498"/>
          </a:xfrm>
          <a:prstGeom prst="rect">
            <a:avLst/>
          </a:prstGeom>
          <a:noFill/>
        </p:spPr>
        <p:txBody>
          <a:bodyPr vert="horz" lIns="0" tIns="0" rtlCol="0">
            <a:spAutoFit/>
          </a:bodyPr>
          <a:lstStyle/>
          <a:p>
            <a:r>
              <a:rPr lang="en-US" sz="2400" b="1">
                <a:solidFill>
                  <a:srgbClr val="F8FAFC"/>
                </a:solidFill>
                <a:latin typeface="Segoe UI" panose="020B0502040204020203" pitchFamily="34" charset="0"/>
              </a:rPr>
              <a:t>The Problem: Why Quantum Computers Threaten Security</a:t>
            </a:r>
            <a:endParaRPr lang="en-IN" sz="2400" b="1">
              <a:solidFill>
                <a:srgbClr val="F8FAFC"/>
              </a:solidFill>
              <a:latin typeface="Segoe UI" panose="020B0502040204020203" pitchFamily="34" charset="0"/>
            </a:endParaRPr>
          </a:p>
        </p:txBody>
      </p:sp>
      <p:sp>
        <p:nvSpPr>
          <p:cNvPr id="5" name="Rectangle 4">
            <a:extLst>
              <a:ext uri="{FF2B5EF4-FFF2-40B4-BE49-F238E27FC236}">
                <a16:creationId xmlns:a16="http://schemas.microsoft.com/office/drawing/2014/main" id="{DF668600-3EAD-C31F-3A24-50C41C2CA17A}"/>
              </a:ext>
            </a:extLst>
          </p:cNvPr>
          <p:cNvSpPr/>
          <p:nvPr/>
        </p:nvSpPr>
        <p:spPr>
          <a:xfrm>
            <a:off x="762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7DCCD14-8989-8CA5-B0E7-79BF357BC8B2}"/>
              </a:ext>
            </a:extLst>
          </p:cNvPr>
          <p:cNvSpPr txBox="1"/>
          <p:nvPr/>
        </p:nvSpPr>
        <p:spPr>
          <a:xfrm>
            <a:off x="1016000" y="1663700"/>
            <a:ext cx="4572000" cy="292388"/>
          </a:xfrm>
          <a:prstGeom prst="rect">
            <a:avLst/>
          </a:prstGeom>
          <a:noFill/>
        </p:spPr>
        <p:txBody>
          <a:bodyPr vert="horz" lIns="0" tIns="0" rtlCol="0">
            <a:spAutoFit/>
          </a:bodyPr>
          <a:lstStyle/>
          <a:p>
            <a:r>
              <a:rPr lang="en-IN" sz="1600" b="1">
                <a:solidFill>
                  <a:srgbClr val="EF4444"/>
                </a:solidFill>
                <a:latin typeface="Segoe UI" panose="020B0502040204020203" pitchFamily="34" charset="0"/>
              </a:rPr>
              <a:t>The Classical Security Crisis</a:t>
            </a:r>
          </a:p>
        </p:txBody>
      </p:sp>
      <p:sp>
        <p:nvSpPr>
          <p:cNvPr id="7" name="TextBox 6">
            <a:extLst>
              <a:ext uri="{FF2B5EF4-FFF2-40B4-BE49-F238E27FC236}">
                <a16:creationId xmlns:a16="http://schemas.microsoft.com/office/drawing/2014/main" id="{A8364231-3E7B-425A-2085-480CADBB2013}"/>
              </a:ext>
            </a:extLst>
          </p:cNvPr>
          <p:cNvSpPr txBox="1"/>
          <p:nvPr/>
        </p:nvSpPr>
        <p:spPr>
          <a:xfrm>
            <a:off x="1016000" y="2120900"/>
            <a:ext cx="4572000" cy="2077492"/>
          </a:xfrm>
          <a:prstGeom prst="rect">
            <a:avLst/>
          </a:prstGeom>
          <a:noFill/>
        </p:spPr>
        <p:txBody>
          <a:bodyPr vert="horz" lIns="0" tIns="0" rtlCol="0">
            <a:spAutoFit/>
          </a:bodyPr>
          <a:lstStyle/>
          <a:p>
            <a:r>
              <a:rPr lang="en-IN" sz="1200">
                <a:solidFill>
                  <a:srgbClr val="F8FAFC"/>
                </a:solidFill>
                <a:latin typeface="Segoe UI" panose="020B0502040204020203" pitchFamily="34" charset="0"/>
              </a:rPr>
              <a:t>* Modern Encryption (RSA, ECC): Protects digital signatures, SSL/TLS, and banking.
* Shor's Quantum Algorithm: Solves integer factoring and discrete logarithms in polynomial time O((log N)^3).
* Total Collapse: RSA, Diffie-Hellman, and ECC will be broken completely once quantum computers scale.
* 'Harvest Now, Decrypt Later': Adversaries are actively capturing traffic today for retroactive decryption.</a:t>
            </a:r>
          </a:p>
        </p:txBody>
      </p:sp>
      <p:sp>
        <p:nvSpPr>
          <p:cNvPr id="8" name="Rectangle 7">
            <a:extLst>
              <a:ext uri="{FF2B5EF4-FFF2-40B4-BE49-F238E27FC236}">
                <a16:creationId xmlns:a16="http://schemas.microsoft.com/office/drawing/2014/main" id="{D3D95679-6379-A05B-863F-42586736F214}"/>
              </a:ext>
            </a:extLst>
          </p:cNvPr>
          <p:cNvSpPr/>
          <p:nvPr/>
        </p:nvSpPr>
        <p:spPr>
          <a:xfrm>
            <a:off x="6350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FF18A2E4-8175-95D0-222E-6A30B6146660}"/>
              </a:ext>
            </a:extLst>
          </p:cNvPr>
          <p:cNvSpPr txBox="1"/>
          <p:nvPr/>
        </p:nvSpPr>
        <p:spPr>
          <a:xfrm>
            <a:off x="6604000" y="1663700"/>
            <a:ext cx="4572000" cy="292388"/>
          </a:xfrm>
          <a:prstGeom prst="rect">
            <a:avLst/>
          </a:prstGeom>
          <a:noFill/>
        </p:spPr>
        <p:txBody>
          <a:bodyPr vert="horz" lIns="0" tIns="0" rtlCol="0">
            <a:spAutoFit/>
          </a:bodyPr>
          <a:lstStyle/>
          <a:p>
            <a:r>
              <a:rPr lang="en-IN" sz="1600" b="1">
                <a:solidFill>
                  <a:srgbClr val="10B981"/>
                </a:solidFill>
                <a:latin typeface="Segoe UI" panose="020B0502040204020203" pitchFamily="34" charset="0"/>
              </a:rPr>
              <a:t>The Global Solution: Lattices</a:t>
            </a:r>
          </a:p>
        </p:txBody>
      </p:sp>
      <p:sp>
        <p:nvSpPr>
          <p:cNvPr id="10" name="TextBox 9">
            <a:extLst>
              <a:ext uri="{FF2B5EF4-FFF2-40B4-BE49-F238E27FC236}">
                <a16:creationId xmlns:a16="http://schemas.microsoft.com/office/drawing/2014/main" id="{F40C50AF-C64E-CBA8-79AF-117C9EE4EEBF}"/>
              </a:ext>
            </a:extLst>
          </p:cNvPr>
          <p:cNvSpPr txBox="1"/>
          <p:nvPr/>
        </p:nvSpPr>
        <p:spPr>
          <a:xfrm>
            <a:off x="6604000" y="2120900"/>
            <a:ext cx="4572000" cy="2262158"/>
          </a:xfrm>
          <a:prstGeom prst="rect">
            <a:avLst/>
          </a:prstGeom>
          <a:noFill/>
        </p:spPr>
        <p:txBody>
          <a:bodyPr vert="horz" lIns="0" tIns="0" rtlCol="0">
            <a:spAutoFit/>
          </a:bodyPr>
          <a:lstStyle/>
          <a:p>
            <a:r>
              <a:rPr lang="en-IN" sz="1200">
                <a:solidFill>
                  <a:srgbClr val="F8FAFC"/>
                </a:solidFill>
                <a:latin typeface="Segoe UI" panose="020B0502040204020203" pitchFamily="34" charset="0"/>
              </a:rPr>
              <a:t>* NIST PQC Standardization (August 2024): NIST finalized the post-quantum standards.
* Primary Standard: FIPS 203 (ML-KEM, based on CRYSTALS-Kyber) for key exchange.
* Digital Signatures: FIPS 204 (ML-DSA, CRYSTALS-Dilithium).
* Why Lattices Won: Strongest security guarantees, compact key sizes (under 1.5 KB), and microsecond execution speeds.
* NIST 2035 Deadline: Mandated global transition deadline.</a:t>
            </a:r>
          </a:p>
        </p:txBody>
      </p:sp>
    </p:spTree>
    <p:extLst>
      <p:ext uri="{BB962C8B-B14F-4D97-AF65-F5344CB8AC3E}">
        <p14:creationId xmlns:p14="http://schemas.microsoft.com/office/powerpoint/2010/main" val="3941181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23929F-B942-E5BE-560D-FE535C5CB69C}"/>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12751D2-C2B6-BFC8-9D29-1FCDCAE93342}"/>
              </a:ext>
            </a:extLst>
          </p:cNvPr>
          <p:cNvSpPr txBox="1"/>
          <p:nvPr/>
        </p:nvSpPr>
        <p:spPr>
          <a:xfrm>
            <a:off x="762000" y="355600"/>
            <a:ext cx="10668000" cy="215444"/>
          </a:xfrm>
          <a:prstGeom prst="rect">
            <a:avLst/>
          </a:prstGeom>
          <a:noFill/>
        </p:spPr>
        <p:txBody>
          <a:bodyPr vert="horz" lIns="0" tIns="0" rtlCol="0">
            <a:spAutoFit/>
          </a:bodyPr>
          <a:lstStyle/>
          <a:p>
            <a:r>
              <a:rPr lang="en-IN" sz="1100" b="1">
                <a:solidFill>
                  <a:srgbClr val="10B981"/>
                </a:solidFill>
                <a:latin typeface="Segoe UI" panose="020B0502040204020203" pitchFamily="34" charset="0"/>
              </a:rPr>
              <a:t>2. FOUNDATIONAL CONCEPTS</a:t>
            </a:r>
          </a:p>
        </p:txBody>
      </p:sp>
      <p:sp>
        <p:nvSpPr>
          <p:cNvPr id="4" name="TextBox 3">
            <a:extLst>
              <a:ext uri="{FF2B5EF4-FFF2-40B4-BE49-F238E27FC236}">
                <a16:creationId xmlns:a16="http://schemas.microsoft.com/office/drawing/2014/main" id="{9C7F158C-3DBE-B7F3-317D-EE6775AC2CFF}"/>
              </a:ext>
            </a:extLst>
          </p:cNvPr>
          <p:cNvSpPr txBox="1"/>
          <p:nvPr/>
        </p:nvSpPr>
        <p:spPr>
          <a:xfrm>
            <a:off x="762000" y="635000"/>
            <a:ext cx="10668000" cy="415498"/>
          </a:xfrm>
          <a:prstGeom prst="rect">
            <a:avLst/>
          </a:prstGeom>
          <a:noFill/>
        </p:spPr>
        <p:txBody>
          <a:bodyPr vert="horz" lIns="0" tIns="0" rtlCol="0">
            <a:spAutoFit/>
          </a:bodyPr>
          <a:lstStyle/>
          <a:p>
            <a:r>
              <a:rPr lang="en-US" sz="2400" b="1">
                <a:solidFill>
                  <a:srgbClr val="F8FAFC"/>
                </a:solidFill>
                <a:latin typeface="Segoe UI" panose="020B0502040204020203" pitchFamily="34" charset="0"/>
              </a:rPr>
              <a:t>Understanding Lattices: An Infinite Grid of Points</a:t>
            </a:r>
            <a:endParaRPr lang="en-IN" sz="2400" b="1">
              <a:solidFill>
                <a:srgbClr val="F8FAFC"/>
              </a:solidFill>
              <a:latin typeface="Segoe UI" panose="020B0502040204020203" pitchFamily="34" charset="0"/>
            </a:endParaRPr>
          </a:p>
        </p:txBody>
      </p:sp>
      <p:sp>
        <p:nvSpPr>
          <p:cNvPr id="5" name="Rectangle 4">
            <a:extLst>
              <a:ext uri="{FF2B5EF4-FFF2-40B4-BE49-F238E27FC236}">
                <a16:creationId xmlns:a16="http://schemas.microsoft.com/office/drawing/2014/main" id="{6FDEBA5B-F22E-D912-4A13-056F5A2366F2}"/>
              </a:ext>
            </a:extLst>
          </p:cNvPr>
          <p:cNvSpPr/>
          <p:nvPr/>
        </p:nvSpPr>
        <p:spPr>
          <a:xfrm>
            <a:off x="762000" y="1460500"/>
            <a:ext cx="3302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21539D1-F0B4-3A8E-7C7E-3BD444527C7B}"/>
              </a:ext>
            </a:extLst>
          </p:cNvPr>
          <p:cNvSpPr txBox="1"/>
          <p:nvPr/>
        </p:nvSpPr>
        <p:spPr>
          <a:xfrm>
            <a:off x="1016000" y="1663700"/>
            <a:ext cx="2794000" cy="292388"/>
          </a:xfrm>
          <a:prstGeom prst="rect">
            <a:avLst/>
          </a:prstGeom>
          <a:noFill/>
        </p:spPr>
        <p:txBody>
          <a:bodyPr vert="horz" lIns="0" tIns="0" rtlCol="0">
            <a:spAutoFit/>
          </a:bodyPr>
          <a:lstStyle/>
          <a:p>
            <a:r>
              <a:rPr lang="en-IN" sz="1600" b="1">
                <a:solidFill>
                  <a:srgbClr val="3B82F6"/>
                </a:solidFill>
                <a:latin typeface="Segoe UI" panose="020B0502040204020203" pitchFamily="34" charset="0"/>
              </a:rPr>
              <a:t>1. The Intuition</a:t>
            </a:r>
          </a:p>
        </p:txBody>
      </p:sp>
      <p:sp>
        <p:nvSpPr>
          <p:cNvPr id="7" name="TextBox 6">
            <a:extLst>
              <a:ext uri="{FF2B5EF4-FFF2-40B4-BE49-F238E27FC236}">
                <a16:creationId xmlns:a16="http://schemas.microsoft.com/office/drawing/2014/main" id="{2857C2E7-384D-27AE-9598-F7B429EFDAA2}"/>
              </a:ext>
            </a:extLst>
          </p:cNvPr>
          <p:cNvSpPr txBox="1"/>
          <p:nvPr/>
        </p:nvSpPr>
        <p:spPr>
          <a:xfrm>
            <a:off x="1016000" y="2120900"/>
            <a:ext cx="2794000" cy="2077492"/>
          </a:xfrm>
          <a:prstGeom prst="rect">
            <a:avLst/>
          </a:prstGeom>
          <a:noFill/>
        </p:spPr>
        <p:txBody>
          <a:bodyPr vert="horz" lIns="0" tIns="0" rtlCol="0">
            <a:spAutoFit/>
          </a:bodyPr>
          <a:lstStyle/>
          <a:p>
            <a:r>
              <a:rPr lang="en-US" sz="1200">
                <a:solidFill>
                  <a:srgbClr val="F8FAFC"/>
                </a:solidFill>
                <a:latin typeface="Segoe UI" panose="020B0502040204020203" pitchFamily="34" charset="0"/>
              </a:rPr>
              <a:t>* Think of an infinite sheet of graph paper.
* The intersection points of the grid lines are the lattice points.
* The origin (0, 0) is always a lattice point.
* It is discrete, regular, and repeats infinitely in all directions.</a:t>
            </a:r>
            <a:endParaRPr lang="en-IN" sz="1200">
              <a:solidFill>
                <a:srgbClr val="F8FAFC"/>
              </a:solidFill>
              <a:latin typeface="Segoe UI" panose="020B0502040204020203" pitchFamily="34" charset="0"/>
            </a:endParaRPr>
          </a:p>
        </p:txBody>
      </p:sp>
      <p:sp>
        <p:nvSpPr>
          <p:cNvPr id="8" name="Rectangle 7">
            <a:extLst>
              <a:ext uri="{FF2B5EF4-FFF2-40B4-BE49-F238E27FC236}">
                <a16:creationId xmlns:a16="http://schemas.microsoft.com/office/drawing/2014/main" id="{8C635196-5062-2BD8-7263-F6530BDD7317}"/>
              </a:ext>
            </a:extLst>
          </p:cNvPr>
          <p:cNvSpPr/>
          <p:nvPr/>
        </p:nvSpPr>
        <p:spPr>
          <a:xfrm>
            <a:off x="4445000" y="1460500"/>
            <a:ext cx="3302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37C34343-391A-14A4-2EB1-C1505542330E}"/>
              </a:ext>
            </a:extLst>
          </p:cNvPr>
          <p:cNvSpPr txBox="1"/>
          <p:nvPr/>
        </p:nvSpPr>
        <p:spPr>
          <a:xfrm>
            <a:off x="4699000" y="1663700"/>
            <a:ext cx="2794000" cy="292388"/>
          </a:xfrm>
          <a:prstGeom prst="rect">
            <a:avLst/>
          </a:prstGeom>
          <a:noFill/>
        </p:spPr>
        <p:txBody>
          <a:bodyPr vert="horz" lIns="0" tIns="0" rtlCol="0">
            <a:spAutoFit/>
          </a:bodyPr>
          <a:lstStyle/>
          <a:p>
            <a:r>
              <a:rPr lang="en-IN" sz="1600" b="1">
                <a:solidFill>
                  <a:srgbClr val="10B981"/>
                </a:solidFill>
                <a:latin typeface="Segoe UI" panose="020B0502040204020203" pitchFamily="34" charset="0"/>
              </a:rPr>
              <a:t>2. The Basis Arrows</a:t>
            </a:r>
          </a:p>
        </p:txBody>
      </p:sp>
      <p:sp>
        <p:nvSpPr>
          <p:cNvPr id="10" name="TextBox 9">
            <a:extLst>
              <a:ext uri="{FF2B5EF4-FFF2-40B4-BE49-F238E27FC236}">
                <a16:creationId xmlns:a16="http://schemas.microsoft.com/office/drawing/2014/main" id="{1783C5E3-573E-DC93-43F8-9152F8AF976C}"/>
              </a:ext>
            </a:extLst>
          </p:cNvPr>
          <p:cNvSpPr txBox="1"/>
          <p:nvPr/>
        </p:nvSpPr>
        <p:spPr>
          <a:xfrm>
            <a:off x="4699000" y="2120900"/>
            <a:ext cx="2794000" cy="1708160"/>
          </a:xfrm>
          <a:prstGeom prst="rect">
            <a:avLst/>
          </a:prstGeom>
          <a:noFill/>
        </p:spPr>
        <p:txBody>
          <a:bodyPr vert="horz" lIns="0" tIns="0" rtlCol="0">
            <a:spAutoFit/>
          </a:bodyPr>
          <a:lstStyle/>
          <a:p>
            <a:r>
              <a:rPr lang="en-US" sz="1200">
                <a:solidFill>
                  <a:srgbClr val="F8FAFC"/>
                </a:solidFill>
                <a:latin typeface="Segoe UI" panose="020B0502040204020203" pitchFamily="34" charset="0"/>
              </a:rPr>
              <a:t>* Defined by basis vectors b1 and b2.
* Every point on the grid is an integer linear combination:
    L = { z1*b1 + z2*b2 }
* Critical Rule: z1 and z2 must be whole integers (Z). No fractions allowed!</a:t>
            </a:r>
            <a:endParaRPr lang="en-IN" sz="1200">
              <a:solidFill>
                <a:srgbClr val="F8FAFC"/>
              </a:solidFill>
              <a:latin typeface="Segoe UI" panose="020B0502040204020203" pitchFamily="34" charset="0"/>
            </a:endParaRPr>
          </a:p>
        </p:txBody>
      </p:sp>
      <p:sp>
        <p:nvSpPr>
          <p:cNvPr id="11" name="Rectangle 10">
            <a:extLst>
              <a:ext uri="{FF2B5EF4-FFF2-40B4-BE49-F238E27FC236}">
                <a16:creationId xmlns:a16="http://schemas.microsoft.com/office/drawing/2014/main" id="{46C8027F-4620-9988-E426-444BD10C42C9}"/>
              </a:ext>
            </a:extLst>
          </p:cNvPr>
          <p:cNvSpPr/>
          <p:nvPr/>
        </p:nvSpPr>
        <p:spPr>
          <a:xfrm>
            <a:off x="8128000" y="1460500"/>
            <a:ext cx="3302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375BBF0B-DD58-621C-510F-EB386FEF3576}"/>
              </a:ext>
            </a:extLst>
          </p:cNvPr>
          <p:cNvSpPr txBox="1"/>
          <p:nvPr/>
        </p:nvSpPr>
        <p:spPr>
          <a:xfrm>
            <a:off x="8382000" y="1663700"/>
            <a:ext cx="2794000" cy="292388"/>
          </a:xfrm>
          <a:prstGeom prst="rect">
            <a:avLst/>
          </a:prstGeom>
          <a:noFill/>
        </p:spPr>
        <p:txBody>
          <a:bodyPr vert="horz" lIns="0" tIns="0" rtlCol="0">
            <a:spAutoFit/>
          </a:bodyPr>
          <a:lstStyle/>
          <a:p>
            <a:r>
              <a:rPr lang="en-IN" sz="1600" b="1">
                <a:solidFill>
                  <a:srgbClr val="A855F7"/>
                </a:solidFill>
                <a:latin typeface="Segoe UI" panose="020B0502040204020203" pitchFamily="34" charset="0"/>
              </a:rPr>
              <a:t>3. Dimensional Scaling</a:t>
            </a:r>
          </a:p>
        </p:txBody>
      </p:sp>
      <p:sp>
        <p:nvSpPr>
          <p:cNvPr id="13" name="TextBox 12">
            <a:extLst>
              <a:ext uri="{FF2B5EF4-FFF2-40B4-BE49-F238E27FC236}">
                <a16:creationId xmlns:a16="http://schemas.microsoft.com/office/drawing/2014/main" id="{BC853903-CCC7-598C-58D8-B6A813721252}"/>
              </a:ext>
            </a:extLst>
          </p:cNvPr>
          <p:cNvSpPr txBox="1"/>
          <p:nvPr/>
        </p:nvSpPr>
        <p:spPr>
          <a:xfrm>
            <a:off x="8382000" y="2120900"/>
            <a:ext cx="2794000" cy="1708160"/>
          </a:xfrm>
          <a:prstGeom prst="rect">
            <a:avLst/>
          </a:prstGeom>
          <a:noFill/>
        </p:spPr>
        <p:txBody>
          <a:bodyPr vert="horz" lIns="0" tIns="0" rtlCol="0">
            <a:spAutoFit/>
          </a:bodyPr>
          <a:lstStyle/>
          <a:p>
            <a:r>
              <a:rPr lang="en-US" sz="1200">
                <a:solidFill>
                  <a:srgbClr val="F8FAFC"/>
                </a:solidFill>
                <a:latin typeface="Segoe UI" panose="020B0502040204020203" pitchFamily="34" charset="0"/>
              </a:rPr>
              <a:t>* In our visual demo: 2 dimensions (x, y). Easy to see.
* In real cryptography: 512 to 1,024 dimensions!
* In high dimensions, space expands exponentially, creating an astronomical search space intractable for computers.</a:t>
            </a:r>
            <a:endParaRPr lang="en-IN" sz="1200">
              <a:solidFill>
                <a:srgbClr val="F8FAFC"/>
              </a:solidFill>
              <a:latin typeface="Segoe UI" panose="020B0502040204020203" pitchFamily="34" charset="0"/>
            </a:endParaRPr>
          </a:p>
        </p:txBody>
      </p:sp>
    </p:spTree>
    <p:extLst>
      <p:ext uri="{BB962C8B-B14F-4D97-AF65-F5344CB8AC3E}">
        <p14:creationId xmlns:p14="http://schemas.microsoft.com/office/powerpoint/2010/main" val="2593947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744E58-9FE0-91AE-5B94-7BDDE964D52E}"/>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122A53B-365D-BEC5-0EB1-34D87E4A7D7B}"/>
              </a:ext>
            </a:extLst>
          </p:cNvPr>
          <p:cNvSpPr txBox="1"/>
          <p:nvPr/>
        </p:nvSpPr>
        <p:spPr>
          <a:xfrm>
            <a:off x="762000" y="355600"/>
            <a:ext cx="10668000" cy="215444"/>
          </a:xfrm>
          <a:prstGeom prst="rect">
            <a:avLst/>
          </a:prstGeom>
          <a:noFill/>
        </p:spPr>
        <p:txBody>
          <a:bodyPr vert="horz" lIns="0" tIns="0" rtlCol="0">
            <a:spAutoFit/>
          </a:bodyPr>
          <a:lstStyle/>
          <a:p>
            <a:r>
              <a:rPr lang="en-IN" sz="1100" b="1">
                <a:solidFill>
                  <a:srgbClr val="10B981"/>
                </a:solidFill>
                <a:latin typeface="Segoe UI" panose="020B0502040204020203" pitchFamily="34" charset="0"/>
              </a:rPr>
              <a:t>3. THE CRYPTOGRAPHIC TRAPDOOR</a:t>
            </a:r>
          </a:p>
        </p:txBody>
      </p:sp>
      <p:sp>
        <p:nvSpPr>
          <p:cNvPr id="4" name="TextBox 3">
            <a:extLst>
              <a:ext uri="{FF2B5EF4-FFF2-40B4-BE49-F238E27FC236}">
                <a16:creationId xmlns:a16="http://schemas.microsoft.com/office/drawing/2014/main" id="{118A5370-640C-E5B8-0DF6-47C5BB8FAA5B}"/>
              </a:ext>
            </a:extLst>
          </p:cNvPr>
          <p:cNvSpPr txBox="1"/>
          <p:nvPr/>
        </p:nvSpPr>
        <p:spPr>
          <a:xfrm>
            <a:off x="762000" y="635000"/>
            <a:ext cx="10668000" cy="415498"/>
          </a:xfrm>
          <a:prstGeom prst="rect">
            <a:avLst/>
          </a:prstGeom>
          <a:noFill/>
        </p:spPr>
        <p:txBody>
          <a:bodyPr vert="horz" lIns="0" tIns="0" rtlCol="0">
            <a:spAutoFit/>
          </a:bodyPr>
          <a:lstStyle/>
          <a:p>
            <a:r>
              <a:rPr lang="en-US" sz="2400" b="1">
                <a:solidFill>
                  <a:srgbClr val="F8FAFC"/>
                </a:solidFill>
                <a:latin typeface="Segoe UI" panose="020B0502040204020203" pitchFamily="34" charset="0"/>
              </a:rPr>
              <a:t>The Core Mechanism: Good Basis vs. Bad Basis</a:t>
            </a:r>
            <a:endParaRPr lang="en-IN" sz="2400" b="1">
              <a:solidFill>
                <a:srgbClr val="F8FAFC"/>
              </a:solidFill>
              <a:latin typeface="Segoe UI" panose="020B0502040204020203" pitchFamily="34" charset="0"/>
            </a:endParaRPr>
          </a:p>
        </p:txBody>
      </p:sp>
      <p:sp>
        <p:nvSpPr>
          <p:cNvPr id="5" name="Rectangle 4">
            <a:extLst>
              <a:ext uri="{FF2B5EF4-FFF2-40B4-BE49-F238E27FC236}">
                <a16:creationId xmlns:a16="http://schemas.microsoft.com/office/drawing/2014/main" id="{A7D6A5DB-4A37-E370-693F-7F214D710D9D}"/>
              </a:ext>
            </a:extLst>
          </p:cNvPr>
          <p:cNvSpPr/>
          <p:nvPr/>
        </p:nvSpPr>
        <p:spPr>
          <a:xfrm>
            <a:off x="762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991E371-AD45-2863-5DE6-CE1FCD499062}"/>
              </a:ext>
            </a:extLst>
          </p:cNvPr>
          <p:cNvSpPr txBox="1"/>
          <p:nvPr/>
        </p:nvSpPr>
        <p:spPr>
          <a:xfrm>
            <a:off x="1016000" y="1663700"/>
            <a:ext cx="4572000" cy="292388"/>
          </a:xfrm>
          <a:prstGeom prst="rect">
            <a:avLst/>
          </a:prstGeom>
          <a:noFill/>
        </p:spPr>
        <p:txBody>
          <a:bodyPr vert="horz" lIns="0" tIns="0" rtlCol="0">
            <a:spAutoFit/>
          </a:bodyPr>
          <a:lstStyle/>
          <a:p>
            <a:r>
              <a:rPr lang="en-US" sz="1600" b="1">
                <a:solidFill>
                  <a:srgbClr val="10B981"/>
                </a:solidFill>
                <a:latin typeface="Segoe UI" panose="020B0502040204020203" pitchFamily="34" charset="0"/>
              </a:rPr>
              <a:t>Good Basis (The Private Key)</a:t>
            </a:r>
            <a:endParaRPr lang="en-IN" sz="1600" b="1">
              <a:solidFill>
                <a:srgbClr val="10B981"/>
              </a:solidFill>
              <a:latin typeface="Segoe UI" panose="020B0502040204020203" pitchFamily="34" charset="0"/>
            </a:endParaRPr>
          </a:p>
        </p:txBody>
      </p:sp>
      <p:sp>
        <p:nvSpPr>
          <p:cNvPr id="7" name="TextBox 6">
            <a:extLst>
              <a:ext uri="{FF2B5EF4-FFF2-40B4-BE49-F238E27FC236}">
                <a16:creationId xmlns:a16="http://schemas.microsoft.com/office/drawing/2014/main" id="{31E03F7C-F61D-3A36-A842-3C94D5B3F572}"/>
              </a:ext>
            </a:extLst>
          </p:cNvPr>
          <p:cNvSpPr txBox="1"/>
          <p:nvPr/>
        </p:nvSpPr>
        <p:spPr>
          <a:xfrm>
            <a:off x="1016000" y="2120900"/>
            <a:ext cx="4572000" cy="2077492"/>
          </a:xfrm>
          <a:prstGeom prst="rect">
            <a:avLst/>
          </a:prstGeom>
          <a:noFill/>
        </p:spPr>
        <p:txBody>
          <a:bodyPr vert="horz" lIns="0" tIns="0" rtlCol="0">
            <a:spAutoFit/>
          </a:bodyPr>
          <a:lstStyle/>
          <a:p>
            <a:r>
              <a:rPr lang="en-IN" sz="1200">
                <a:solidFill>
                  <a:srgbClr val="F8FAFC"/>
                </a:solidFill>
                <a:latin typeface="Segoe UI" panose="020B0502040204020203" pitchFamily="34" charset="0"/>
              </a:rPr>
              <a:t>* Vector Properties: Short vectors, mutually perpendicular (angle ~ 90 deg).
* Dot Product: b1 . b2 ~ 0 (orthogonal).
* Geometry: Creates clean rectangular tiling.
* Navigation: Extremely easy to calculate distances, find nearest points, and remove noise.
* Security Role: Kept SECRET as the private key.</a:t>
            </a:r>
          </a:p>
        </p:txBody>
      </p:sp>
      <p:sp>
        <p:nvSpPr>
          <p:cNvPr id="8" name="Rectangle 7">
            <a:extLst>
              <a:ext uri="{FF2B5EF4-FFF2-40B4-BE49-F238E27FC236}">
                <a16:creationId xmlns:a16="http://schemas.microsoft.com/office/drawing/2014/main" id="{B463D8B3-0220-9B22-808C-554EFA9699FB}"/>
              </a:ext>
            </a:extLst>
          </p:cNvPr>
          <p:cNvSpPr/>
          <p:nvPr/>
        </p:nvSpPr>
        <p:spPr>
          <a:xfrm>
            <a:off x="6350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335E17E5-7E8E-EDE6-0F89-A200B9BEC09F}"/>
              </a:ext>
            </a:extLst>
          </p:cNvPr>
          <p:cNvSpPr txBox="1"/>
          <p:nvPr/>
        </p:nvSpPr>
        <p:spPr>
          <a:xfrm>
            <a:off x="6604000" y="1663700"/>
            <a:ext cx="4572000" cy="292388"/>
          </a:xfrm>
          <a:prstGeom prst="rect">
            <a:avLst/>
          </a:prstGeom>
          <a:noFill/>
        </p:spPr>
        <p:txBody>
          <a:bodyPr vert="horz" lIns="0" tIns="0" rtlCol="0">
            <a:spAutoFit/>
          </a:bodyPr>
          <a:lstStyle/>
          <a:p>
            <a:r>
              <a:rPr lang="en-US" sz="1600" b="1">
                <a:solidFill>
                  <a:srgbClr val="EF4444"/>
                </a:solidFill>
                <a:latin typeface="Segoe UI" panose="020B0502040204020203" pitchFamily="34" charset="0"/>
              </a:rPr>
              <a:t>Bad Basis (The Public Key)</a:t>
            </a:r>
            <a:endParaRPr lang="en-IN" sz="1600" b="1">
              <a:solidFill>
                <a:srgbClr val="EF4444"/>
              </a:solidFill>
              <a:latin typeface="Segoe UI" panose="020B0502040204020203" pitchFamily="34" charset="0"/>
            </a:endParaRPr>
          </a:p>
        </p:txBody>
      </p:sp>
      <p:sp>
        <p:nvSpPr>
          <p:cNvPr id="10" name="TextBox 9">
            <a:extLst>
              <a:ext uri="{FF2B5EF4-FFF2-40B4-BE49-F238E27FC236}">
                <a16:creationId xmlns:a16="http://schemas.microsoft.com/office/drawing/2014/main" id="{A0E65334-ECCF-EBEB-278F-2BF3A86447A5}"/>
              </a:ext>
            </a:extLst>
          </p:cNvPr>
          <p:cNvSpPr txBox="1"/>
          <p:nvPr/>
        </p:nvSpPr>
        <p:spPr>
          <a:xfrm>
            <a:off x="6604000" y="2120900"/>
            <a:ext cx="4572000" cy="2077492"/>
          </a:xfrm>
          <a:prstGeom prst="rect">
            <a:avLst/>
          </a:prstGeom>
          <a:noFill/>
        </p:spPr>
        <p:txBody>
          <a:bodyPr vert="horz" lIns="0" tIns="0" rtlCol="0">
            <a:spAutoFit/>
          </a:bodyPr>
          <a:lstStyle/>
          <a:p>
            <a:r>
              <a:rPr lang="en-US" sz="1200">
                <a:solidFill>
                  <a:srgbClr val="F8FAFC"/>
                </a:solidFill>
                <a:latin typeface="Segoe UI" panose="020B0502040204020203" pitchFamily="34" charset="0"/>
              </a:rPr>
              <a:t>* Vector Properties: Very long vectors, nearly parallel (squished angle &lt; 5 deg).
* Dot Product: b1 . b2 &gt;&gt; 0 (strongly non-orthogonal).
* Geometry: Distorts into stretched, skewed parallelograms.
* Navigation: Intractable to navigate without the good basis; rounding errors explode.
* Security Role: Published openly as the PUBLIC KEY.</a:t>
            </a:r>
            <a:endParaRPr lang="en-IN" sz="1200">
              <a:solidFill>
                <a:srgbClr val="F8FAFC"/>
              </a:solidFill>
              <a:latin typeface="Segoe UI" panose="020B0502040204020203" pitchFamily="34" charset="0"/>
            </a:endParaRPr>
          </a:p>
        </p:txBody>
      </p:sp>
    </p:spTree>
    <p:extLst>
      <p:ext uri="{BB962C8B-B14F-4D97-AF65-F5344CB8AC3E}">
        <p14:creationId xmlns:p14="http://schemas.microsoft.com/office/powerpoint/2010/main" val="3972711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A25A06-3A4B-298F-B449-A58EE1548C0F}"/>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D4EED5F-EEB2-10F1-5C61-5C8E3F1B4D8D}"/>
              </a:ext>
            </a:extLst>
          </p:cNvPr>
          <p:cNvSpPr txBox="1"/>
          <p:nvPr/>
        </p:nvSpPr>
        <p:spPr>
          <a:xfrm>
            <a:off x="762000" y="355600"/>
            <a:ext cx="10668000" cy="215444"/>
          </a:xfrm>
          <a:prstGeom prst="rect">
            <a:avLst/>
          </a:prstGeom>
          <a:noFill/>
        </p:spPr>
        <p:txBody>
          <a:bodyPr vert="horz" lIns="0" tIns="0" rtlCol="0">
            <a:spAutoFit/>
          </a:bodyPr>
          <a:lstStyle/>
          <a:p>
            <a:r>
              <a:rPr lang="en-IN" sz="1100" b="1">
                <a:solidFill>
                  <a:srgbClr val="10B981"/>
                </a:solidFill>
                <a:latin typeface="Segoe UI" panose="020B0502040204020203" pitchFamily="34" charset="0"/>
              </a:rPr>
              <a:t>4. COMPUTATIONAL HARDNESS</a:t>
            </a:r>
          </a:p>
        </p:txBody>
      </p:sp>
      <p:sp>
        <p:nvSpPr>
          <p:cNvPr id="4" name="TextBox 3">
            <a:extLst>
              <a:ext uri="{FF2B5EF4-FFF2-40B4-BE49-F238E27FC236}">
                <a16:creationId xmlns:a16="http://schemas.microsoft.com/office/drawing/2014/main" id="{E40EA791-83EE-94F7-5978-F59D0A67963A}"/>
              </a:ext>
            </a:extLst>
          </p:cNvPr>
          <p:cNvSpPr txBox="1"/>
          <p:nvPr/>
        </p:nvSpPr>
        <p:spPr>
          <a:xfrm>
            <a:off x="762000" y="635000"/>
            <a:ext cx="10668000" cy="415498"/>
          </a:xfrm>
          <a:prstGeom prst="rect">
            <a:avLst/>
          </a:prstGeom>
          <a:noFill/>
        </p:spPr>
        <p:txBody>
          <a:bodyPr vert="horz" lIns="0" tIns="0" rtlCol="0">
            <a:spAutoFit/>
          </a:bodyPr>
          <a:lstStyle/>
          <a:p>
            <a:r>
              <a:rPr lang="en-US" sz="2400" b="1">
                <a:solidFill>
                  <a:srgbClr val="F8FAFC"/>
                </a:solidFill>
                <a:latin typeface="Segoe UI" panose="020B0502040204020203" pitchFamily="34" charset="0"/>
              </a:rPr>
              <a:t>The Two Hard Problems Underpinning Security</a:t>
            </a:r>
            <a:endParaRPr lang="en-IN" sz="2400" b="1">
              <a:solidFill>
                <a:srgbClr val="F8FAFC"/>
              </a:solidFill>
              <a:latin typeface="Segoe UI" panose="020B0502040204020203" pitchFamily="34" charset="0"/>
            </a:endParaRPr>
          </a:p>
        </p:txBody>
      </p:sp>
      <p:sp>
        <p:nvSpPr>
          <p:cNvPr id="5" name="Rectangle 4">
            <a:extLst>
              <a:ext uri="{FF2B5EF4-FFF2-40B4-BE49-F238E27FC236}">
                <a16:creationId xmlns:a16="http://schemas.microsoft.com/office/drawing/2014/main" id="{8AF0C9F3-7AA6-97DC-C720-DF6FC76293BF}"/>
              </a:ext>
            </a:extLst>
          </p:cNvPr>
          <p:cNvSpPr/>
          <p:nvPr/>
        </p:nvSpPr>
        <p:spPr>
          <a:xfrm>
            <a:off x="762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164EC0E-6100-C9E0-4C8B-CD7D2CC27940}"/>
              </a:ext>
            </a:extLst>
          </p:cNvPr>
          <p:cNvSpPr txBox="1"/>
          <p:nvPr/>
        </p:nvSpPr>
        <p:spPr>
          <a:xfrm>
            <a:off x="1016000" y="1663700"/>
            <a:ext cx="4572000" cy="292388"/>
          </a:xfrm>
          <a:prstGeom prst="rect">
            <a:avLst/>
          </a:prstGeom>
          <a:noFill/>
        </p:spPr>
        <p:txBody>
          <a:bodyPr vert="horz" lIns="0" tIns="0" rtlCol="0">
            <a:spAutoFit/>
          </a:bodyPr>
          <a:lstStyle/>
          <a:p>
            <a:r>
              <a:rPr lang="en-IN" sz="1600" b="1">
                <a:solidFill>
                  <a:srgbClr val="3B82F6"/>
                </a:solidFill>
                <a:latin typeface="Segoe UI" panose="020B0502040204020203" pitchFamily="34" charset="0"/>
              </a:rPr>
              <a:t>Closest Vector Problem (CVP)</a:t>
            </a:r>
          </a:p>
        </p:txBody>
      </p:sp>
      <p:sp>
        <p:nvSpPr>
          <p:cNvPr id="7" name="TextBox 6">
            <a:extLst>
              <a:ext uri="{FF2B5EF4-FFF2-40B4-BE49-F238E27FC236}">
                <a16:creationId xmlns:a16="http://schemas.microsoft.com/office/drawing/2014/main" id="{C25B3119-5D84-906B-E7BF-75E455C46B3C}"/>
              </a:ext>
            </a:extLst>
          </p:cNvPr>
          <p:cNvSpPr txBox="1"/>
          <p:nvPr/>
        </p:nvSpPr>
        <p:spPr>
          <a:xfrm>
            <a:off x="1016000" y="2120900"/>
            <a:ext cx="4572000" cy="1892826"/>
          </a:xfrm>
          <a:prstGeom prst="rect">
            <a:avLst/>
          </a:prstGeom>
          <a:noFill/>
        </p:spPr>
        <p:txBody>
          <a:bodyPr vert="horz" lIns="0" tIns="0" rtlCol="0">
            <a:spAutoFit/>
          </a:bodyPr>
          <a:lstStyle/>
          <a:p>
            <a:r>
              <a:rPr lang="en-US" sz="1200">
                <a:solidFill>
                  <a:srgbClr val="F8FAFC"/>
                </a:solidFill>
                <a:latin typeface="Segoe UI" panose="020B0502040204020203" pitchFamily="34" charset="0"/>
              </a:rPr>
              <a:t>* The Challenge: Given a random target point 't' in space, find the lattice point closest to 't'.
* In 2 Dimensions: Trivial! You can visually see which dot is closest.
* In 1,024 Dimensions: NP-Hard! The number of candidate points to check is astronomically large.
* Cryptographic Use: Decryption is simply solving CVP using the private good basis.</a:t>
            </a:r>
            <a:endParaRPr lang="en-IN" sz="1200">
              <a:solidFill>
                <a:srgbClr val="F8FAFC"/>
              </a:solidFill>
              <a:latin typeface="Segoe UI" panose="020B0502040204020203" pitchFamily="34" charset="0"/>
            </a:endParaRPr>
          </a:p>
        </p:txBody>
      </p:sp>
      <p:sp>
        <p:nvSpPr>
          <p:cNvPr id="8" name="Rectangle 7">
            <a:extLst>
              <a:ext uri="{FF2B5EF4-FFF2-40B4-BE49-F238E27FC236}">
                <a16:creationId xmlns:a16="http://schemas.microsoft.com/office/drawing/2014/main" id="{D87A608B-9C83-EF8D-BCD6-A6FE9D9A3368}"/>
              </a:ext>
            </a:extLst>
          </p:cNvPr>
          <p:cNvSpPr/>
          <p:nvPr/>
        </p:nvSpPr>
        <p:spPr>
          <a:xfrm>
            <a:off x="6350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71930768-492A-5151-20A8-2D7D198F62DA}"/>
              </a:ext>
            </a:extLst>
          </p:cNvPr>
          <p:cNvSpPr txBox="1"/>
          <p:nvPr/>
        </p:nvSpPr>
        <p:spPr>
          <a:xfrm>
            <a:off x="6604000" y="1663700"/>
            <a:ext cx="4572000" cy="292388"/>
          </a:xfrm>
          <a:prstGeom prst="rect">
            <a:avLst/>
          </a:prstGeom>
          <a:noFill/>
        </p:spPr>
        <p:txBody>
          <a:bodyPr vert="horz" lIns="0" tIns="0" rtlCol="0">
            <a:spAutoFit/>
          </a:bodyPr>
          <a:lstStyle/>
          <a:p>
            <a:r>
              <a:rPr lang="en-IN" sz="1600" b="1">
                <a:solidFill>
                  <a:srgbClr val="10B981"/>
                </a:solidFill>
                <a:latin typeface="Segoe UI" panose="020B0502040204020203" pitchFamily="34" charset="0"/>
              </a:rPr>
              <a:t>Shortest Vector Problem (SVP)</a:t>
            </a:r>
          </a:p>
        </p:txBody>
      </p:sp>
      <p:sp>
        <p:nvSpPr>
          <p:cNvPr id="10" name="TextBox 9">
            <a:extLst>
              <a:ext uri="{FF2B5EF4-FFF2-40B4-BE49-F238E27FC236}">
                <a16:creationId xmlns:a16="http://schemas.microsoft.com/office/drawing/2014/main" id="{881BBE71-46EF-C271-2382-B881BE48245B}"/>
              </a:ext>
            </a:extLst>
          </p:cNvPr>
          <p:cNvSpPr txBox="1"/>
          <p:nvPr/>
        </p:nvSpPr>
        <p:spPr>
          <a:xfrm>
            <a:off x="6604000" y="2120900"/>
            <a:ext cx="4572000" cy="1892826"/>
          </a:xfrm>
          <a:prstGeom prst="rect">
            <a:avLst/>
          </a:prstGeom>
          <a:noFill/>
        </p:spPr>
        <p:txBody>
          <a:bodyPr vert="horz" lIns="0" tIns="0" rtlCol="0">
            <a:spAutoFit/>
          </a:bodyPr>
          <a:lstStyle/>
          <a:p>
            <a:r>
              <a:rPr lang="en-US" sz="1200">
                <a:solidFill>
                  <a:srgbClr val="F8FAFC"/>
                </a:solidFill>
                <a:latin typeface="Segoe UI" panose="020B0502040204020203" pitchFamily="34" charset="0"/>
              </a:rPr>
              <a:t>* The Challenge: Find the shortest non-zero vector in the lattice (closest point to origin).
* Crucial Insight: The shortest vector is frequently NOT one of the input basis arrows!
* Often it is a combination like b1 - b2.
* Quantum Resilience: Even Shor's quantum algorithm cannot solve SVP because lattices lack Abelian periodic structure.</a:t>
            </a:r>
            <a:endParaRPr lang="en-IN" sz="1200">
              <a:solidFill>
                <a:srgbClr val="F8FAFC"/>
              </a:solidFill>
              <a:latin typeface="Segoe UI" panose="020B0502040204020203" pitchFamily="34" charset="0"/>
            </a:endParaRPr>
          </a:p>
        </p:txBody>
      </p:sp>
    </p:spTree>
    <p:extLst>
      <p:ext uri="{BB962C8B-B14F-4D97-AF65-F5344CB8AC3E}">
        <p14:creationId xmlns:p14="http://schemas.microsoft.com/office/powerpoint/2010/main" val="1837361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8163E0-48A7-F1F8-3461-45C0C0072036}"/>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1AD6128-8FA0-BE04-E380-A6662E2C9FAD}"/>
              </a:ext>
            </a:extLst>
          </p:cNvPr>
          <p:cNvSpPr txBox="1"/>
          <p:nvPr/>
        </p:nvSpPr>
        <p:spPr>
          <a:xfrm>
            <a:off x="762000" y="355600"/>
            <a:ext cx="10668000" cy="215444"/>
          </a:xfrm>
          <a:prstGeom prst="rect">
            <a:avLst/>
          </a:prstGeom>
          <a:noFill/>
        </p:spPr>
        <p:txBody>
          <a:bodyPr vert="horz" lIns="0" tIns="0" rtlCol="0">
            <a:spAutoFit/>
          </a:bodyPr>
          <a:lstStyle/>
          <a:p>
            <a:r>
              <a:rPr lang="en-IN" sz="1100" b="1">
                <a:solidFill>
                  <a:srgbClr val="10B981"/>
                </a:solidFill>
                <a:latin typeface="Segoe UI" panose="020B0502040204020203" pitchFamily="34" charset="0"/>
              </a:rPr>
              <a:t>5. THE CRYPTOSYSTEM</a:t>
            </a:r>
          </a:p>
        </p:txBody>
      </p:sp>
      <p:sp>
        <p:nvSpPr>
          <p:cNvPr id="4" name="TextBox 3">
            <a:extLst>
              <a:ext uri="{FF2B5EF4-FFF2-40B4-BE49-F238E27FC236}">
                <a16:creationId xmlns:a16="http://schemas.microsoft.com/office/drawing/2014/main" id="{79B018B0-33E1-DD25-C83C-4371C10C79B1}"/>
              </a:ext>
            </a:extLst>
          </p:cNvPr>
          <p:cNvSpPr txBox="1"/>
          <p:nvPr/>
        </p:nvSpPr>
        <p:spPr>
          <a:xfrm>
            <a:off x="762000" y="635000"/>
            <a:ext cx="10668000" cy="415498"/>
          </a:xfrm>
          <a:prstGeom prst="rect">
            <a:avLst/>
          </a:prstGeom>
          <a:noFill/>
        </p:spPr>
        <p:txBody>
          <a:bodyPr vert="horz" lIns="0" tIns="0" rtlCol="0">
            <a:spAutoFit/>
          </a:bodyPr>
          <a:lstStyle/>
          <a:p>
            <a:r>
              <a:rPr lang="en-US" sz="2400" b="1">
                <a:solidFill>
                  <a:srgbClr val="F8FAFC"/>
                </a:solidFill>
                <a:latin typeface="Segoe UI" panose="020B0502040204020203" pitchFamily="34" charset="0"/>
              </a:rPr>
              <a:t>How Encryption Works: Learning With Errors (LWE)</a:t>
            </a:r>
            <a:endParaRPr lang="en-IN" sz="2400" b="1">
              <a:solidFill>
                <a:srgbClr val="F8FAFC"/>
              </a:solidFill>
              <a:latin typeface="Segoe UI" panose="020B0502040204020203" pitchFamily="34" charset="0"/>
            </a:endParaRPr>
          </a:p>
        </p:txBody>
      </p:sp>
      <p:sp>
        <p:nvSpPr>
          <p:cNvPr id="5" name="Rectangle 4">
            <a:extLst>
              <a:ext uri="{FF2B5EF4-FFF2-40B4-BE49-F238E27FC236}">
                <a16:creationId xmlns:a16="http://schemas.microsoft.com/office/drawing/2014/main" id="{884DE865-4C75-64BF-EFB5-D0A387CAE150}"/>
              </a:ext>
            </a:extLst>
          </p:cNvPr>
          <p:cNvSpPr/>
          <p:nvPr/>
        </p:nvSpPr>
        <p:spPr>
          <a:xfrm>
            <a:off x="762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3EAF440-220C-1B79-D754-1560D0B1BE62}"/>
              </a:ext>
            </a:extLst>
          </p:cNvPr>
          <p:cNvSpPr txBox="1"/>
          <p:nvPr/>
        </p:nvSpPr>
        <p:spPr>
          <a:xfrm>
            <a:off x="1016000" y="1663700"/>
            <a:ext cx="4572000" cy="292388"/>
          </a:xfrm>
          <a:prstGeom prst="rect">
            <a:avLst/>
          </a:prstGeom>
          <a:noFill/>
        </p:spPr>
        <p:txBody>
          <a:bodyPr vert="horz" lIns="0" tIns="0" rtlCol="0">
            <a:spAutoFit/>
          </a:bodyPr>
          <a:lstStyle/>
          <a:p>
            <a:r>
              <a:rPr lang="en-US" sz="1600" b="1">
                <a:solidFill>
                  <a:srgbClr val="EF4444"/>
                </a:solidFill>
                <a:latin typeface="Segoe UI" panose="020B0502040204020203" pitchFamily="34" charset="0"/>
              </a:rPr>
              <a:t>The Power of Small Noise</a:t>
            </a:r>
            <a:endParaRPr lang="en-IN" sz="1600" b="1">
              <a:solidFill>
                <a:srgbClr val="EF4444"/>
              </a:solidFill>
              <a:latin typeface="Segoe UI" panose="020B0502040204020203" pitchFamily="34" charset="0"/>
            </a:endParaRPr>
          </a:p>
        </p:txBody>
      </p:sp>
      <p:sp>
        <p:nvSpPr>
          <p:cNvPr id="7" name="TextBox 6">
            <a:extLst>
              <a:ext uri="{FF2B5EF4-FFF2-40B4-BE49-F238E27FC236}">
                <a16:creationId xmlns:a16="http://schemas.microsoft.com/office/drawing/2014/main" id="{321EAD44-039A-5CD0-3E51-19E78362CB16}"/>
              </a:ext>
            </a:extLst>
          </p:cNvPr>
          <p:cNvSpPr txBox="1"/>
          <p:nvPr/>
        </p:nvSpPr>
        <p:spPr>
          <a:xfrm>
            <a:off x="1016000" y="2120900"/>
            <a:ext cx="4572000" cy="1892826"/>
          </a:xfrm>
          <a:prstGeom prst="rect">
            <a:avLst/>
          </a:prstGeom>
          <a:noFill/>
        </p:spPr>
        <p:txBody>
          <a:bodyPr vert="horz" lIns="0" tIns="0" rtlCol="0">
            <a:spAutoFit/>
          </a:bodyPr>
          <a:lstStyle/>
          <a:p>
            <a:r>
              <a:rPr lang="en-IN" sz="1200">
                <a:solidFill>
                  <a:srgbClr val="F8FAFC"/>
                </a:solidFill>
                <a:latin typeface="Segoe UI" panose="020B0502040204020203" pitchFamily="34" charset="0"/>
              </a:rPr>
              <a:t>* Without Error (A * s = b): Basic linear algebra. Solved in milliseconds via Gaussian elimination.
* With Small Error (A * s + e = b mod q):
    - e is small noise: e in {-1, 0, 1}
    - Linear algebra completely collapses!
    - Noise amplifies across elimination steps.
* The Result: b looks like completely random noise to an eavesdropper.</a:t>
            </a:r>
          </a:p>
        </p:txBody>
      </p:sp>
      <p:sp>
        <p:nvSpPr>
          <p:cNvPr id="8" name="Rectangle 7">
            <a:extLst>
              <a:ext uri="{FF2B5EF4-FFF2-40B4-BE49-F238E27FC236}">
                <a16:creationId xmlns:a16="http://schemas.microsoft.com/office/drawing/2014/main" id="{1DD91DD3-C0C6-34F2-9C84-EFD21F81BBE7}"/>
              </a:ext>
            </a:extLst>
          </p:cNvPr>
          <p:cNvSpPr/>
          <p:nvPr/>
        </p:nvSpPr>
        <p:spPr>
          <a:xfrm>
            <a:off x="6350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02BC67B-AACF-C6CC-4D4E-1F83EE747EF6}"/>
              </a:ext>
            </a:extLst>
          </p:cNvPr>
          <p:cNvSpPr txBox="1"/>
          <p:nvPr/>
        </p:nvSpPr>
        <p:spPr>
          <a:xfrm>
            <a:off x="6604000" y="1663700"/>
            <a:ext cx="4572000" cy="292388"/>
          </a:xfrm>
          <a:prstGeom prst="rect">
            <a:avLst/>
          </a:prstGeom>
          <a:noFill/>
        </p:spPr>
        <p:txBody>
          <a:bodyPr vert="horz" lIns="0" tIns="0" rtlCol="0">
            <a:spAutoFit/>
          </a:bodyPr>
          <a:lstStyle/>
          <a:p>
            <a:r>
              <a:rPr lang="en-IN" sz="1600" b="1">
                <a:solidFill>
                  <a:srgbClr val="10B981"/>
                </a:solidFill>
                <a:latin typeface="Segoe UI" panose="020B0502040204020203" pitchFamily="34" charset="0"/>
              </a:rPr>
              <a:t>Encrypt &amp; Decrypt Pipeline</a:t>
            </a:r>
          </a:p>
        </p:txBody>
      </p:sp>
      <p:sp>
        <p:nvSpPr>
          <p:cNvPr id="10" name="TextBox 9">
            <a:extLst>
              <a:ext uri="{FF2B5EF4-FFF2-40B4-BE49-F238E27FC236}">
                <a16:creationId xmlns:a16="http://schemas.microsoft.com/office/drawing/2014/main" id="{F76548D5-D231-6897-7D3A-FB03DA10A81D}"/>
              </a:ext>
            </a:extLst>
          </p:cNvPr>
          <p:cNvSpPr txBox="1"/>
          <p:nvPr/>
        </p:nvSpPr>
        <p:spPr>
          <a:xfrm>
            <a:off x="6604000" y="2120900"/>
            <a:ext cx="4572000" cy="2077492"/>
          </a:xfrm>
          <a:prstGeom prst="rect">
            <a:avLst/>
          </a:prstGeom>
          <a:noFill/>
        </p:spPr>
        <p:txBody>
          <a:bodyPr vert="horz" lIns="0" tIns="0" rtlCol="0">
            <a:spAutoFit/>
          </a:bodyPr>
          <a:lstStyle/>
          <a:p>
            <a:r>
              <a:rPr lang="en-US" sz="1200">
                <a:solidFill>
                  <a:srgbClr val="F8FAFC"/>
                </a:solidFill>
                <a:latin typeface="Segoe UI" panose="020B0502040204020203" pitchFamily="34" charset="0"/>
              </a:rPr>
              <a:t>* KeyGen: Secret key 's', Public key (A, b = A*s + e).
* Encryption: Sender hides message bit 'm' (0 or 1) by shifting value by floor(q/2):
    v = b.T * r + m * floor(q/2) mod q
* Decryption: Receiver computes v - s.T * u mod q.
    Result = noise + m * floor(q/2)
* Rounding: Close to 0 -&gt; bit is 0. Close to q/2 -&gt; bit is 1. Accurate 100% of the time!</a:t>
            </a:r>
            <a:endParaRPr lang="en-IN" sz="1200">
              <a:solidFill>
                <a:srgbClr val="F8FAFC"/>
              </a:solidFill>
              <a:latin typeface="Segoe UI" panose="020B0502040204020203" pitchFamily="34" charset="0"/>
            </a:endParaRPr>
          </a:p>
        </p:txBody>
      </p:sp>
    </p:spTree>
    <p:extLst>
      <p:ext uri="{BB962C8B-B14F-4D97-AF65-F5344CB8AC3E}">
        <p14:creationId xmlns:p14="http://schemas.microsoft.com/office/powerpoint/2010/main" val="2158469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886BD8-BF53-9D57-308B-5995DBD33B72}"/>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7B7E056-A24E-01A5-84BC-A105F2004E31}"/>
              </a:ext>
            </a:extLst>
          </p:cNvPr>
          <p:cNvSpPr txBox="1"/>
          <p:nvPr/>
        </p:nvSpPr>
        <p:spPr>
          <a:xfrm>
            <a:off x="762000" y="355600"/>
            <a:ext cx="10668000" cy="215444"/>
          </a:xfrm>
          <a:prstGeom prst="rect">
            <a:avLst/>
          </a:prstGeom>
          <a:noFill/>
        </p:spPr>
        <p:txBody>
          <a:bodyPr vert="horz" lIns="0" tIns="0" rtlCol="0">
            <a:spAutoFit/>
          </a:bodyPr>
          <a:lstStyle/>
          <a:p>
            <a:r>
              <a:rPr lang="en-US" sz="1100" b="1">
                <a:solidFill>
                  <a:srgbClr val="10B981"/>
                </a:solidFill>
                <a:latin typeface="Segoe UI" panose="020B0502040204020203" pitchFamily="34" charset="0"/>
              </a:rPr>
              <a:t>6. PROJECT DELIVERABLES AND FINDINGS</a:t>
            </a:r>
            <a:endParaRPr lang="en-IN" sz="1100" b="1">
              <a:solidFill>
                <a:srgbClr val="10B981"/>
              </a:solidFill>
              <a:latin typeface="Segoe UI" panose="020B0502040204020203" pitchFamily="34" charset="0"/>
            </a:endParaRPr>
          </a:p>
        </p:txBody>
      </p:sp>
      <p:sp>
        <p:nvSpPr>
          <p:cNvPr id="4" name="TextBox 3">
            <a:extLst>
              <a:ext uri="{FF2B5EF4-FFF2-40B4-BE49-F238E27FC236}">
                <a16:creationId xmlns:a16="http://schemas.microsoft.com/office/drawing/2014/main" id="{581BC797-901E-E129-BF13-12BEE749A218}"/>
              </a:ext>
            </a:extLst>
          </p:cNvPr>
          <p:cNvSpPr txBox="1"/>
          <p:nvPr/>
        </p:nvSpPr>
        <p:spPr>
          <a:xfrm>
            <a:off x="762000" y="635000"/>
            <a:ext cx="10668000" cy="415498"/>
          </a:xfrm>
          <a:prstGeom prst="rect">
            <a:avLst/>
          </a:prstGeom>
          <a:noFill/>
        </p:spPr>
        <p:txBody>
          <a:bodyPr vert="horz" lIns="0" tIns="0" rtlCol="0">
            <a:spAutoFit/>
          </a:bodyPr>
          <a:lstStyle/>
          <a:p>
            <a:r>
              <a:rPr lang="en-US" sz="2400" b="1">
                <a:solidFill>
                  <a:srgbClr val="F8FAFC"/>
                </a:solidFill>
                <a:latin typeface="Segoe UI" panose="020B0502040204020203" pitchFamily="34" charset="0"/>
              </a:rPr>
              <a:t>Our Implementation and Machine Learning Experiment</a:t>
            </a:r>
            <a:endParaRPr lang="en-IN" sz="2400" b="1">
              <a:solidFill>
                <a:srgbClr val="F8FAFC"/>
              </a:solidFill>
              <a:latin typeface="Segoe UI" panose="020B0502040204020203" pitchFamily="34" charset="0"/>
            </a:endParaRPr>
          </a:p>
        </p:txBody>
      </p:sp>
      <p:sp>
        <p:nvSpPr>
          <p:cNvPr id="5" name="Rectangle 4">
            <a:extLst>
              <a:ext uri="{FF2B5EF4-FFF2-40B4-BE49-F238E27FC236}">
                <a16:creationId xmlns:a16="http://schemas.microsoft.com/office/drawing/2014/main" id="{FA4F8A1E-E36E-12C2-14E0-8DD31DA47660}"/>
              </a:ext>
            </a:extLst>
          </p:cNvPr>
          <p:cNvSpPr/>
          <p:nvPr/>
        </p:nvSpPr>
        <p:spPr>
          <a:xfrm>
            <a:off x="762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E1162FA-4476-92F0-8663-1F65922FE7B8}"/>
              </a:ext>
            </a:extLst>
          </p:cNvPr>
          <p:cNvSpPr txBox="1"/>
          <p:nvPr/>
        </p:nvSpPr>
        <p:spPr>
          <a:xfrm>
            <a:off x="1016000" y="1663700"/>
            <a:ext cx="4572000" cy="292388"/>
          </a:xfrm>
          <a:prstGeom prst="rect">
            <a:avLst/>
          </a:prstGeom>
          <a:noFill/>
        </p:spPr>
        <p:txBody>
          <a:bodyPr vert="horz" lIns="0" tIns="0" rtlCol="0">
            <a:spAutoFit/>
          </a:bodyPr>
          <a:lstStyle/>
          <a:p>
            <a:r>
              <a:rPr lang="en-IN" sz="1600" b="1">
                <a:solidFill>
                  <a:srgbClr val="3B82F6"/>
                </a:solidFill>
                <a:latin typeface="Segoe UI" panose="020B0502040204020203" pitchFamily="34" charset="0"/>
              </a:rPr>
              <a:t>What We Built</a:t>
            </a:r>
          </a:p>
        </p:txBody>
      </p:sp>
      <p:sp>
        <p:nvSpPr>
          <p:cNvPr id="7" name="TextBox 6">
            <a:extLst>
              <a:ext uri="{FF2B5EF4-FFF2-40B4-BE49-F238E27FC236}">
                <a16:creationId xmlns:a16="http://schemas.microsoft.com/office/drawing/2014/main" id="{368335DD-7EC0-20DB-8202-5AA85C5CC946}"/>
              </a:ext>
            </a:extLst>
          </p:cNvPr>
          <p:cNvSpPr txBox="1"/>
          <p:nvPr/>
        </p:nvSpPr>
        <p:spPr>
          <a:xfrm>
            <a:off x="1016000" y="2120900"/>
            <a:ext cx="4572000" cy="1892826"/>
          </a:xfrm>
          <a:prstGeom prst="rect">
            <a:avLst/>
          </a:prstGeom>
          <a:noFill/>
        </p:spPr>
        <p:txBody>
          <a:bodyPr vert="horz" lIns="0" tIns="0" rtlCol="0">
            <a:spAutoFit/>
          </a:bodyPr>
          <a:lstStyle/>
          <a:p>
            <a:r>
              <a:rPr lang="en-IN" sz="1200">
                <a:solidFill>
                  <a:srgbClr val="F8FAFC"/>
                </a:solidFill>
                <a:latin typeface="Segoe UI" panose="020B0502040204020203" pitchFamily="34" charset="0"/>
              </a:rPr>
              <a:t>* Interactive Python/Colab Notebook: Fully functional implementation across 14 cells.
* Visual Simulations: 2D lattice generation, CVP concentric circles, SVP radius, and basis orthogonality.
* Cryptographic Schemes: Working Regev LWE encryption and Kyber-style key exchange.
* Vectorized and Optimized: Executes in seconds.</a:t>
            </a:r>
          </a:p>
        </p:txBody>
      </p:sp>
      <p:sp>
        <p:nvSpPr>
          <p:cNvPr id="8" name="Rectangle 7">
            <a:extLst>
              <a:ext uri="{FF2B5EF4-FFF2-40B4-BE49-F238E27FC236}">
                <a16:creationId xmlns:a16="http://schemas.microsoft.com/office/drawing/2014/main" id="{CFF0AB79-9A45-7B9F-8CCC-8763F347B755}"/>
              </a:ext>
            </a:extLst>
          </p:cNvPr>
          <p:cNvSpPr/>
          <p:nvPr/>
        </p:nvSpPr>
        <p:spPr>
          <a:xfrm>
            <a:off x="6350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3FE6A95A-FC68-2A05-A06A-A4AC58E20D72}"/>
              </a:ext>
            </a:extLst>
          </p:cNvPr>
          <p:cNvSpPr txBox="1"/>
          <p:nvPr/>
        </p:nvSpPr>
        <p:spPr>
          <a:xfrm>
            <a:off x="6604000" y="1663700"/>
            <a:ext cx="4572000" cy="292388"/>
          </a:xfrm>
          <a:prstGeom prst="rect">
            <a:avLst/>
          </a:prstGeom>
          <a:noFill/>
        </p:spPr>
        <p:txBody>
          <a:bodyPr vert="horz" lIns="0" tIns="0" rtlCol="0">
            <a:spAutoFit/>
          </a:bodyPr>
          <a:lstStyle/>
          <a:p>
            <a:r>
              <a:rPr lang="en-IN" sz="1600" b="1">
                <a:solidFill>
                  <a:srgbClr val="10B981"/>
                </a:solidFill>
                <a:latin typeface="Segoe UI" panose="020B0502040204020203" pitchFamily="34" charset="0"/>
              </a:rPr>
              <a:t>Can AI Break Lattice Crypto?</a:t>
            </a:r>
          </a:p>
        </p:txBody>
      </p:sp>
      <p:sp>
        <p:nvSpPr>
          <p:cNvPr id="10" name="TextBox 9">
            <a:extLst>
              <a:ext uri="{FF2B5EF4-FFF2-40B4-BE49-F238E27FC236}">
                <a16:creationId xmlns:a16="http://schemas.microsoft.com/office/drawing/2014/main" id="{38851C64-7AC4-47F4-C0D8-B4D43860341A}"/>
              </a:ext>
            </a:extLst>
          </p:cNvPr>
          <p:cNvSpPr txBox="1"/>
          <p:nvPr/>
        </p:nvSpPr>
        <p:spPr>
          <a:xfrm>
            <a:off x="6604000" y="2120900"/>
            <a:ext cx="4572000" cy="1892826"/>
          </a:xfrm>
          <a:prstGeom prst="rect">
            <a:avLst/>
          </a:prstGeom>
          <a:noFill/>
        </p:spPr>
        <p:txBody>
          <a:bodyPr vert="horz" lIns="0" tIns="0" rtlCol="0">
            <a:spAutoFit/>
          </a:bodyPr>
          <a:lstStyle/>
          <a:p>
            <a:r>
              <a:rPr lang="en-IN" sz="1200">
                <a:solidFill>
                  <a:srgbClr val="F8FAFC"/>
                </a:solidFill>
                <a:latin typeface="Segoe UI" panose="020B0502040204020203" pitchFamily="34" charset="0"/>
              </a:rPr>
              <a:t>* Experiment: Trained a Deep Neural Network (MLP) on 3,000 ciphertexts without the secret key.
* Results Across Dimensions:
    - Dimension 2:  85.3% accuracy (AI detects patterns)
    - Dimension 8:  53.1% accuracy
    - Dimension 16: 49.8% ~ 50% (Pure random guess!)
* Finding: Modular noise mod q destroys neural gradients. Proves lattice security against AI!</a:t>
            </a:r>
          </a:p>
        </p:txBody>
      </p:sp>
    </p:spTree>
    <p:extLst>
      <p:ext uri="{BB962C8B-B14F-4D97-AF65-F5344CB8AC3E}">
        <p14:creationId xmlns:p14="http://schemas.microsoft.com/office/powerpoint/2010/main" val="160181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680419-0DC8-D428-BB86-7661ACD09802}"/>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BA70544-3B4D-20E1-CC81-A8879A2FC6CB}"/>
              </a:ext>
            </a:extLst>
          </p:cNvPr>
          <p:cNvSpPr txBox="1"/>
          <p:nvPr/>
        </p:nvSpPr>
        <p:spPr>
          <a:xfrm>
            <a:off x="762000" y="355600"/>
            <a:ext cx="10668000" cy="215444"/>
          </a:xfrm>
          <a:prstGeom prst="rect">
            <a:avLst/>
          </a:prstGeom>
          <a:noFill/>
        </p:spPr>
        <p:txBody>
          <a:bodyPr vert="horz" lIns="0" tIns="0" rtlCol="0">
            <a:spAutoFit/>
          </a:bodyPr>
          <a:lstStyle/>
          <a:p>
            <a:r>
              <a:rPr lang="en-IN" sz="1100" b="1">
                <a:solidFill>
                  <a:srgbClr val="10B981"/>
                </a:solidFill>
                <a:latin typeface="Segoe UI" panose="020B0502040204020203" pitchFamily="34" charset="0"/>
              </a:rPr>
              <a:t>7. SUMMARY AND ROADMAP</a:t>
            </a:r>
          </a:p>
        </p:txBody>
      </p:sp>
      <p:sp>
        <p:nvSpPr>
          <p:cNvPr id="4" name="TextBox 3">
            <a:extLst>
              <a:ext uri="{FF2B5EF4-FFF2-40B4-BE49-F238E27FC236}">
                <a16:creationId xmlns:a16="http://schemas.microsoft.com/office/drawing/2014/main" id="{0993F185-03C7-0FB0-AA48-D4B56D4EC0AD}"/>
              </a:ext>
            </a:extLst>
          </p:cNvPr>
          <p:cNvSpPr txBox="1"/>
          <p:nvPr/>
        </p:nvSpPr>
        <p:spPr>
          <a:xfrm>
            <a:off x="762000" y="635000"/>
            <a:ext cx="10668000" cy="415498"/>
          </a:xfrm>
          <a:prstGeom prst="rect">
            <a:avLst/>
          </a:prstGeom>
          <a:noFill/>
        </p:spPr>
        <p:txBody>
          <a:bodyPr vert="horz" lIns="0" tIns="0" rtlCol="0">
            <a:spAutoFit/>
          </a:bodyPr>
          <a:lstStyle/>
          <a:p>
            <a:r>
              <a:rPr lang="en-IN" sz="2400" b="1">
                <a:solidFill>
                  <a:srgbClr val="F8FAFC"/>
                </a:solidFill>
                <a:latin typeface="Segoe UI" panose="020B0502040204020203" pitchFamily="34" charset="0"/>
              </a:rPr>
              <a:t>Conclusion and Future Scope</a:t>
            </a:r>
          </a:p>
        </p:txBody>
      </p:sp>
      <p:sp>
        <p:nvSpPr>
          <p:cNvPr id="5" name="Rectangle 4">
            <a:extLst>
              <a:ext uri="{FF2B5EF4-FFF2-40B4-BE49-F238E27FC236}">
                <a16:creationId xmlns:a16="http://schemas.microsoft.com/office/drawing/2014/main" id="{9C99CB5B-9C79-44BC-E75F-8825E59A88E2}"/>
              </a:ext>
            </a:extLst>
          </p:cNvPr>
          <p:cNvSpPr/>
          <p:nvPr/>
        </p:nvSpPr>
        <p:spPr>
          <a:xfrm>
            <a:off x="762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14C4F83-9FD1-B3BB-7DFC-F02C66AEB2CC}"/>
              </a:ext>
            </a:extLst>
          </p:cNvPr>
          <p:cNvSpPr txBox="1"/>
          <p:nvPr/>
        </p:nvSpPr>
        <p:spPr>
          <a:xfrm>
            <a:off x="1016000" y="1663700"/>
            <a:ext cx="4572000" cy="292388"/>
          </a:xfrm>
          <a:prstGeom prst="rect">
            <a:avLst/>
          </a:prstGeom>
          <a:noFill/>
        </p:spPr>
        <p:txBody>
          <a:bodyPr vert="horz" lIns="0" tIns="0" rtlCol="0">
            <a:spAutoFit/>
          </a:bodyPr>
          <a:lstStyle/>
          <a:p>
            <a:r>
              <a:rPr lang="en-IN" sz="1600" b="1">
                <a:solidFill>
                  <a:srgbClr val="10B981"/>
                </a:solidFill>
                <a:latin typeface="Segoe UI" panose="020B0502040204020203" pitchFamily="34" charset="0"/>
              </a:rPr>
              <a:t>Project Conclusions</a:t>
            </a:r>
          </a:p>
        </p:txBody>
      </p:sp>
      <p:sp>
        <p:nvSpPr>
          <p:cNvPr id="7" name="TextBox 6">
            <a:extLst>
              <a:ext uri="{FF2B5EF4-FFF2-40B4-BE49-F238E27FC236}">
                <a16:creationId xmlns:a16="http://schemas.microsoft.com/office/drawing/2014/main" id="{3A6AA6C4-E85D-D55E-49F9-F17EC9D06C88}"/>
              </a:ext>
            </a:extLst>
          </p:cNvPr>
          <p:cNvSpPr txBox="1"/>
          <p:nvPr/>
        </p:nvSpPr>
        <p:spPr>
          <a:xfrm>
            <a:off x="1016000" y="2120900"/>
            <a:ext cx="4572000" cy="2077492"/>
          </a:xfrm>
          <a:prstGeom prst="rect">
            <a:avLst/>
          </a:prstGeom>
          <a:noFill/>
        </p:spPr>
        <p:txBody>
          <a:bodyPr vert="horz" lIns="0" tIns="0" rtlCol="0">
            <a:spAutoFit/>
          </a:bodyPr>
          <a:lstStyle/>
          <a:p>
            <a:r>
              <a:rPr lang="en-IN" sz="1200">
                <a:solidFill>
                  <a:srgbClr val="F8FAFC"/>
                </a:solidFill>
                <a:latin typeface="Segoe UI" panose="020B0502040204020203" pitchFamily="34" charset="0"/>
              </a:rPr>
              <a:t>* Established clear geometric understanding of lattice post-quantum cryptography.
* Demonstrated how bad bases and modular noise create intractable trapdoor functions.
* Verified that Machine Learning attacks fail as dimensions scale beyond toy models.
* Open-source codebase ready for interactive educational adoption.</a:t>
            </a:r>
          </a:p>
        </p:txBody>
      </p:sp>
      <p:sp>
        <p:nvSpPr>
          <p:cNvPr id="8" name="Rectangle 7">
            <a:extLst>
              <a:ext uri="{FF2B5EF4-FFF2-40B4-BE49-F238E27FC236}">
                <a16:creationId xmlns:a16="http://schemas.microsoft.com/office/drawing/2014/main" id="{68F05209-B557-4CA1-A4AA-B2C55ABA112F}"/>
              </a:ext>
            </a:extLst>
          </p:cNvPr>
          <p:cNvSpPr/>
          <p:nvPr/>
        </p:nvSpPr>
        <p:spPr>
          <a:xfrm>
            <a:off x="6350000" y="1460500"/>
            <a:ext cx="5080000" cy="4826000"/>
          </a:xfrm>
          <a:prstGeom prst="rect">
            <a:avLst/>
          </a:prstGeom>
          <a:solidFill>
            <a:srgbClr val="1E293B"/>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3506634-B70E-29CF-CCD5-738FC5136F55}"/>
              </a:ext>
            </a:extLst>
          </p:cNvPr>
          <p:cNvSpPr txBox="1"/>
          <p:nvPr/>
        </p:nvSpPr>
        <p:spPr>
          <a:xfrm>
            <a:off x="6604000" y="1663700"/>
            <a:ext cx="4572000" cy="292388"/>
          </a:xfrm>
          <a:prstGeom prst="rect">
            <a:avLst/>
          </a:prstGeom>
          <a:noFill/>
        </p:spPr>
        <p:txBody>
          <a:bodyPr vert="horz" lIns="0" tIns="0" rtlCol="0">
            <a:spAutoFit/>
          </a:bodyPr>
          <a:lstStyle/>
          <a:p>
            <a:r>
              <a:rPr lang="en-IN" sz="1600" b="1">
                <a:solidFill>
                  <a:srgbClr val="A855F7"/>
                </a:solidFill>
                <a:latin typeface="Segoe UI" panose="020B0502040204020203" pitchFamily="34" charset="0"/>
              </a:rPr>
              <a:t>Future Research Roadmap</a:t>
            </a:r>
          </a:p>
        </p:txBody>
      </p:sp>
      <p:sp>
        <p:nvSpPr>
          <p:cNvPr id="10" name="TextBox 9">
            <a:extLst>
              <a:ext uri="{FF2B5EF4-FFF2-40B4-BE49-F238E27FC236}">
                <a16:creationId xmlns:a16="http://schemas.microsoft.com/office/drawing/2014/main" id="{E502357A-A1D6-E34A-6BDB-823C526C966D}"/>
              </a:ext>
            </a:extLst>
          </p:cNvPr>
          <p:cNvSpPr txBox="1"/>
          <p:nvPr/>
        </p:nvSpPr>
        <p:spPr>
          <a:xfrm>
            <a:off x="6604000" y="2120900"/>
            <a:ext cx="4572000" cy="2077492"/>
          </a:xfrm>
          <a:prstGeom prst="rect">
            <a:avLst/>
          </a:prstGeom>
          <a:noFill/>
        </p:spPr>
        <p:txBody>
          <a:bodyPr vert="horz" lIns="0" tIns="0" rtlCol="0">
            <a:spAutoFit/>
          </a:bodyPr>
          <a:lstStyle/>
          <a:p>
            <a:r>
              <a:rPr lang="en-IN" sz="1200">
                <a:solidFill>
                  <a:srgbClr val="F8FAFC"/>
                </a:solidFill>
                <a:latin typeface="Segoe UI" panose="020B0502040204020203" pitchFamily="34" charset="0"/>
              </a:rPr>
              <a:t>* Module-LWE (M-LWE): Investigating polynomial quotient rings (Zq[X]/(X^256+1)) for key compression.
* Number Theoretic Transform (NTT): Studying O(n log n) fast polynomial multiplication.
* Fully Homomorphic Encryption (FHE): Computing directly on encrypted data without decrypting.
* NIST 2035 Readiness: Tracking deployment in Apple iMessage PQ3 and Google Chrome.</a:t>
            </a:r>
          </a:p>
        </p:txBody>
      </p:sp>
    </p:spTree>
    <p:extLst>
      <p:ext uri="{BB962C8B-B14F-4D97-AF65-F5344CB8AC3E}">
        <p14:creationId xmlns:p14="http://schemas.microsoft.com/office/powerpoint/2010/main" val="3502395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1790</Words>
  <Application>Microsoft Office PowerPoint</Application>
  <PresentationFormat>Custom</PresentationFormat>
  <Paragraphs>64</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Goyal</dc:creator>
  <cp:lastModifiedBy>Nikhil Goyal</cp:lastModifiedBy>
  <cp:revision>1</cp:revision>
  <dcterms:created xsi:type="dcterms:W3CDTF">2026-09-27T18:04:42Z</dcterms:created>
  <dcterms:modified xsi:type="dcterms:W3CDTF">2026-09-27T18:04:42Z</dcterms:modified>
</cp:coreProperties>
</file>